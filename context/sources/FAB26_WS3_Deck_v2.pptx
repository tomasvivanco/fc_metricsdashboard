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Hold this while people settle. Ask people from the same city to sit together, it matters at minute 28. No bios, no agenda slide. Open cold on the plain line before any numbers: 'Your city cannot make more than about a third of what it consumes. Neither can mine. Neither can anyone's, and for a long time nobody could tell you why.' Then to the ceiling.</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numbers appear huge, side by side. Hold three seconds of SILENCE before naming them, 37.58 and 37.00 sound almost identical said aloud, so the eye has to catch that they're the same number before the ear can. 'Two teams. Six years apart. Never met. Same number. Twice.' Then reframe: a ceiling set by supply-chain geometry, not two cities failing. Each computed one cell of twenty; the other nineteen were dark.</a:t>
            </a:r>
            <a:endParaRPr/>
          </a:p>
        </p:txBody>
      </p:sp>
      <p:sp>
        <p:nvSpPr>
          <p:cNvPr id="93" name="Google Shape;9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years of saying cities should make what they consume, and we cannot yet prove it changes the trajectory. Peuckert et al. (2025), ~1,000 studies, zero causal evidence at the bioregional tier. This is where the 8-second credential lands, AFTER the hook, not before: 'I'm Tomas, I wrote the Full Stack; this is Tomás, the Foundation commissioned him to make it measurable, and it isn't published yet, you're the first room to see it.' Then the Boston line: you're not watching the experiment, you're sitting inside it.</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Vivanco presents, Diez gives the one-line authorship frame. Three minutes max on the layers, they exist to set up the fold into the matrix.</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Vivanco owns this slide end to end, no handoff inside it (authorship was framed at the end of the cold open). Full Stack (prev slide) is 90 seconds, then here. Point at the red cell: both 37s live there, Economic × Region. Everything else dark. Attribution vs aggregation: what works locally vs whether the system moves. Do NOT hand out the paper, unpublished; the tease is the gift.</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Rename before notation: dependency → independence, capacity, reflexes. Point at the × signs, these multiply, they don't add, BEFORE the vote, so the reveal confirms a mechanism the room already saw. Do NOT show the formula yet; it appears once, at the reveal. ρ is the new organ, observed-but-never-acted scores zero. Then straight into the game.</a:t>
            </a:r>
            <a:endParaRPr/>
          </a:p>
        </p:txBody>
      </p:sp>
      <p:sp>
        <p:nvSpPr>
          <p:cNvPr id="189" name="Google Shape;18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the vote for real; Vivanco silent-scores on the flip chart (one voice runs the game, Diez). Thin room? Don't count hands, have people STAND for their pick, or move to a corner, so bodies fill the space and the split is physical. Most rooms pick A or B. Don't reveal until everyone's committed.</a:t>
            </a:r>
            <a:endParaRPr/>
          </a:p>
        </p:txBody>
      </p:sp>
      <p:sp>
        <p:nvSpPr>
          <p:cNvPr id="211" name="Google Shape;21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reveal: 'you already saw the × signs, a zero anywhere zeros the whole thing.' THEN the formula appears, once, snapping to the Boston page, screenshot by default (conference wifi is a coin-flip; live only at the ask, pre-loaded, hotspot). 'This is City C's scorecard, and it's this room's city.' Point at one provenance pill: this value LIVE, that one SYNTHETIC and it says so. Skeptic on the zero? 'A city that sees everything and does nothing hasn't changed its trajectory, it's a modelling choice, and it's falsifiable. That's hypothesis one.' Boeing recovery proof is a coffee conversation, offer it, move on.</a:t>
            </a:r>
            <a:endParaRPr/>
          </a:p>
        </p:txBody>
      </p:sp>
      <p:sp>
        <p:nvSpPr>
          <p:cNvPr id="232" name="Google Shape;23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Resist the architecture tour. Open with the canonical contrast: Earth already has eyes on it (Copernicus, Aurora, GraphCast), what's missing is the WIRE between those eyes and a network that can respond. Policy cycle: observe 2025, report 2028, measure 2035. Fab City cycle: detect, decide, fabricate, deploy, measure, in days-to-months. Then the deal: production + compute + sovereignty (node at the lab, council veto, humans approve, public ledger). One sentence of rigor, 2 hypotheses, 36 months, a null is publishable, then: 'the cells you're about to pick feed this, and this feeds back.' Boston's sensor fleet still needs building, say so; don't overclaim it.</a:t>
            </a:r>
            <a:endParaRPr/>
          </a:p>
        </p:txBody>
      </p:sp>
      <p:sp>
        <p:nvSpPr>
          <p:cNvPr id="243" name="Google Shape;24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hosts roam opposite corners. Boston is the default city so no table burns 5 minutes on 'whose city?'. Push back on green dots, 'could you pull it this month?', downgrade to yellow liberally; the provenance discipline is taught here, not on a slide. Ask who actually has hands on the source (often not the enthusiast). Force big commitments down to one cell. Hard gate at min 40: 'markers down soon, one cell you can defend and one email you'll send.' Collect every card and every A3.</a:t>
            </a:r>
            <a:endParaRPr/>
          </a:p>
        </p:txBody>
      </p:sp>
      <p:sp>
        <p:nvSpPr>
          <p:cNvPr id="261" name="Google Shape;261;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wall is the pitch, gesture at it: 'four pilots this morning; every other row is new since nine o'clock.' The wall was PRE-SEEDED with the four pilots before doors opened, so it's never empty even with a thin room. Two doors: active Fab City → co-participant; everyone else → fab.city. Collect every card. Each card gets a personal email within 72 hours, DRAFTED from the card, never auto-sent, quoting their own first step back to them.</a:t>
            </a:r>
            <a:endParaRPr/>
          </a:p>
        </p:txBody>
      </p:sp>
      <p:sp>
        <p:nvSpPr>
          <p:cNvPr id="284" name="Google Shape;28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4" name="Shape 84"/>
        <p:cNvGrpSpPr/>
        <p:nvPr/>
      </p:nvGrpSpPr>
      <p:grpSpPr>
        <a:xfrm>
          <a:off x="0" y="0"/>
          <a:ext cx="0" cy="0"/>
          <a:chOff x="0" y="0"/>
          <a:chExt cx="0" cy="0"/>
        </a:xfrm>
      </p:grpSpPr>
      <p:pic>
        <p:nvPicPr>
          <p:cNvPr descr="logo.png" id="85" name="Google Shape;85;p13"/>
          <p:cNvPicPr preferRelativeResize="0"/>
          <p:nvPr/>
        </p:nvPicPr>
        <p:blipFill rotWithShape="1">
          <a:blip r:embed="rId3">
            <a:alphaModFix/>
          </a:blip>
          <a:srcRect b="0" l="0" r="0" t="0"/>
          <a:stretch/>
        </p:blipFill>
        <p:spPr>
          <a:xfrm>
            <a:off x="5478627" y="868680"/>
            <a:ext cx="1234440" cy="1242670"/>
          </a:xfrm>
          <a:prstGeom prst="rect">
            <a:avLst/>
          </a:prstGeom>
          <a:noFill/>
          <a:ln>
            <a:noFill/>
          </a:ln>
        </p:spPr>
      </p:pic>
      <p:sp>
        <p:nvSpPr>
          <p:cNvPr id="86" name="Google Shape;86;p13"/>
          <p:cNvSpPr txBox="1"/>
          <p:nvPr/>
        </p:nvSpPr>
        <p:spPr>
          <a:xfrm>
            <a:off x="1371600" y="2606040"/>
            <a:ext cx="944849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none" cap="none" strike="noStrike">
                <a:solidFill>
                  <a:srgbClr val="F7F5F1"/>
                </a:solidFill>
                <a:latin typeface="Arial"/>
                <a:ea typeface="Arial"/>
                <a:cs typeface="Arial"/>
                <a:sym typeface="Arial"/>
              </a:rPr>
              <a:t>Measuring the Fab City</a:t>
            </a:r>
            <a:endParaRPr/>
          </a:p>
        </p:txBody>
      </p:sp>
      <p:sp>
        <p:nvSpPr>
          <p:cNvPr id="87" name="Google Shape;87;p13"/>
          <p:cNvSpPr txBox="1"/>
          <p:nvPr/>
        </p:nvSpPr>
        <p:spPr>
          <a:xfrm>
            <a:off x="1371600" y="3429000"/>
            <a:ext cx="944849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F7F5F1"/>
                </a:solidFill>
                <a:latin typeface="Arial"/>
                <a:ea typeface="Arial"/>
                <a:cs typeface="Arial"/>
                <a:sym typeface="Arial"/>
              </a:rPr>
              <a:t>Full Stack · Fab City Index 3.0 · PLANETAI</a:t>
            </a:r>
            <a:endParaRPr/>
          </a:p>
        </p:txBody>
      </p:sp>
      <p:sp>
        <p:nvSpPr>
          <p:cNvPr id="88" name="Google Shape;88;p13"/>
          <p:cNvSpPr txBox="1"/>
          <p:nvPr/>
        </p:nvSpPr>
        <p:spPr>
          <a:xfrm>
            <a:off x="1371600" y="4069080"/>
            <a:ext cx="944849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8A8782"/>
                </a:solidFill>
                <a:latin typeface="Arial"/>
                <a:ea typeface="Arial"/>
                <a:cs typeface="Arial"/>
                <a:sym typeface="Arial"/>
              </a:rPr>
              <a:t>WS3, FAB26 Boston · Tomas Diez × Tomás Vivanco</a:t>
            </a:r>
            <a:endParaRPr/>
          </a:p>
        </p:txBody>
      </p:sp>
      <p:sp>
        <p:nvSpPr>
          <p:cNvPr id="89" name="Google Shape;89;p13"/>
          <p:cNvSpPr txBox="1"/>
          <p:nvPr/>
        </p:nvSpPr>
        <p:spPr>
          <a:xfrm>
            <a:off x="1371600" y="6172200"/>
            <a:ext cx="944849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100" u="none" cap="none" strike="noStrike">
                <a:solidFill>
                  <a:srgbClr val="8A8782"/>
                </a:solidFill>
                <a:latin typeface="Arial"/>
                <a:ea typeface="Arial"/>
                <a:cs typeface="Arial"/>
                <a:sym typeface="Arial"/>
              </a:rPr>
              <a:t>We are a distributed movement redesigning the relationship between production and 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94" name="Shape 94"/>
        <p:cNvGrpSpPr/>
        <p:nvPr/>
      </p:nvGrpSpPr>
      <p:grpSpPr>
        <a:xfrm>
          <a:off x="0" y="0"/>
          <a:ext cx="0" cy="0"/>
          <a:chOff x="0" y="0"/>
          <a:chExt cx="0" cy="0"/>
        </a:xfrm>
      </p:grpSpPr>
      <p:sp>
        <p:nvSpPr>
          <p:cNvPr id="95" name="Google Shape;95;p14"/>
          <p:cNvSpPr txBox="1"/>
          <p:nvPr/>
        </p:nvSpPr>
        <p:spPr>
          <a:xfrm>
            <a:off x="640080" y="45720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E62038"/>
                </a:solidFill>
                <a:latin typeface="Arial"/>
                <a:ea typeface="Arial"/>
                <a:cs typeface="Arial"/>
                <a:sym typeface="Arial"/>
              </a:rPr>
              <a:t>THE CEILING</a:t>
            </a:r>
            <a:endParaRPr/>
          </a:p>
        </p:txBody>
      </p:sp>
      <p:sp>
        <p:nvSpPr>
          <p:cNvPr id="96" name="Google Shape;96;p14"/>
          <p:cNvSpPr/>
          <p:nvPr/>
        </p:nvSpPr>
        <p:spPr>
          <a:xfrm>
            <a:off x="640080" y="792480"/>
            <a:ext cx="594360" cy="19050"/>
          </a:xfrm>
          <a:prstGeom prst="rect">
            <a:avLst/>
          </a:prstGeom>
          <a:solidFill>
            <a:srgbClr val="E62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822960" y="1371600"/>
            <a:ext cx="5120640" cy="11887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800" u="none" cap="none" strike="noStrike">
                <a:solidFill>
                  <a:srgbClr val="1E1E1E"/>
                </a:solidFill>
                <a:latin typeface="Arial"/>
                <a:ea typeface="Arial"/>
                <a:cs typeface="Arial"/>
                <a:sym typeface="Arial"/>
              </a:rPr>
              <a:t>37.58</a:t>
            </a:r>
            <a:endParaRPr/>
          </a:p>
        </p:txBody>
      </p:sp>
      <p:sp>
        <p:nvSpPr>
          <p:cNvPr id="98" name="Google Shape;98;p14"/>
          <p:cNvSpPr txBox="1"/>
          <p:nvPr/>
        </p:nvSpPr>
        <p:spPr>
          <a:xfrm>
            <a:off x="822960" y="2743200"/>
            <a:ext cx="512064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Paris, Utopies, 2018</a:t>
            </a:r>
            <a:endParaRPr/>
          </a:p>
        </p:txBody>
      </p:sp>
      <p:sp>
        <p:nvSpPr>
          <p:cNvPr id="99" name="Google Shape;99;p14"/>
          <p:cNvSpPr txBox="1"/>
          <p:nvPr/>
        </p:nvSpPr>
        <p:spPr>
          <a:xfrm>
            <a:off x="6309360" y="1371600"/>
            <a:ext cx="5120640" cy="11887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800" u="none" cap="none" strike="noStrike">
                <a:solidFill>
                  <a:srgbClr val="1E1E1E"/>
                </a:solidFill>
                <a:latin typeface="Arial"/>
                <a:ea typeface="Arial"/>
                <a:cs typeface="Arial"/>
                <a:sym typeface="Arial"/>
              </a:rPr>
              <a:t>37.00</a:t>
            </a:r>
            <a:endParaRPr/>
          </a:p>
        </p:txBody>
      </p:sp>
      <p:sp>
        <p:nvSpPr>
          <p:cNvPr id="100" name="Google Shape;100;p14"/>
          <p:cNvSpPr txBox="1"/>
          <p:nvPr/>
        </p:nvSpPr>
        <p:spPr>
          <a:xfrm>
            <a:off x="6309360" y="2743200"/>
            <a:ext cx="512064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Hamburg, Boeing, 2024</a:t>
            </a:r>
            <a:endParaRPr/>
          </a:p>
        </p:txBody>
      </p:sp>
      <p:sp>
        <p:nvSpPr>
          <p:cNvPr id="101" name="Google Shape;101;p14"/>
          <p:cNvSpPr txBox="1"/>
          <p:nvPr/>
        </p:nvSpPr>
        <p:spPr>
          <a:xfrm>
            <a:off x="1371600" y="3794760"/>
            <a:ext cx="9448495"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1E1E1E"/>
                </a:solidFill>
                <a:latin typeface="Arial"/>
                <a:ea typeface="Arial"/>
                <a:cs typeface="Arial"/>
                <a:sym typeface="Arial"/>
              </a:rPr>
              <a:t>Two teams that never met. Six years apart. Same number.</a:t>
            </a:r>
            <a:endParaRPr/>
          </a:p>
        </p:txBody>
      </p:sp>
      <p:sp>
        <p:nvSpPr>
          <p:cNvPr id="102" name="Google Shape;102;p14"/>
          <p:cNvSpPr txBox="1"/>
          <p:nvPr/>
        </p:nvSpPr>
        <p:spPr>
          <a:xfrm>
            <a:off x="2468880" y="4709160"/>
            <a:ext cx="7223760" cy="1188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1E1E1E"/>
                </a:solidFill>
                <a:latin typeface="Arial"/>
                <a:ea typeface="Arial"/>
                <a:cs typeface="Arial"/>
                <a:sym typeface="Arial"/>
              </a:rPr>
              <a:t>Not two cities failing, the geometry of global supply chains, measured twice.</a:t>
            </a:r>
            <a:endParaRPr/>
          </a:p>
          <a:p>
            <a:pPr indent="0" lvl="0" marL="0" marR="0" rtl="0" algn="l">
              <a:spcBef>
                <a:spcPts val="0"/>
              </a:spcBef>
              <a:spcAft>
                <a:spcPts val="0"/>
              </a:spcAft>
              <a:buNone/>
            </a:pPr>
            <a:r>
              <a:rPr b="0" i="0" lang="en-US" sz="1400" u="none" cap="none" strike="noStrike">
                <a:solidFill>
                  <a:srgbClr val="1E1E1E"/>
                </a:solidFill>
                <a:latin typeface="Arial"/>
                <a:ea typeface="Arial"/>
                <a:cs typeface="Arial"/>
                <a:sym typeface="Arial"/>
              </a:rPr>
              <a:t>Gen 1 and 2 computed one cell, with rigour. FCI 3.0 is what you build once you accept the ceiling and ask the next question.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107" name="Shape 107"/>
        <p:cNvGrpSpPr/>
        <p:nvPr/>
      </p:nvGrpSpPr>
      <p:grpSpPr>
        <a:xfrm>
          <a:off x="0" y="0"/>
          <a:ext cx="0" cy="0"/>
          <a:chOff x="0" y="0"/>
          <a:chExt cx="0" cy="0"/>
        </a:xfrm>
      </p:grpSpPr>
      <p:sp>
        <p:nvSpPr>
          <p:cNvPr id="108" name="Google Shape;108;p15"/>
          <p:cNvSpPr txBox="1"/>
          <p:nvPr/>
        </p:nvSpPr>
        <p:spPr>
          <a:xfrm>
            <a:off x="640080" y="45720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E62038"/>
                </a:solidFill>
                <a:latin typeface="Arial"/>
                <a:ea typeface="Arial"/>
                <a:cs typeface="Arial"/>
                <a:sym typeface="Arial"/>
              </a:rPr>
              <a:t>THE WOUND</a:t>
            </a:r>
            <a:endParaRPr/>
          </a:p>
        </p:txBody>
      </p:sp>
      <p:sp>
        <p:nvSpPr>
          <p:cNvPr id="109" name="Google Shape;109;p15"/>
          <p:cNvSpPr/>
          <p:nvPr/>
        </p:nvSpPr>
        <p:spPr>
          <a:xfrm>
            <a:off x="640080" y="792480"/>
            <a:ext cx="594360" cy="19050"/>
          </a:xfrm>
          <a:prstGeom prst="rect">
            <a:avLst/>
          </a:prstGeom>
          <a:solidFill>
            <a:srgbClr val="E62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txBox="1"/>
          <p:nvPr/>
        </p:nvSpPr>
        <p:spPr>
          <a:xfrm>
            <a:off x="540867" y="1737360"/>
            <a:ext cx="2606040" cy="10058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1E1E1E"/>
                </a:solidFill>
                <a:latin typeface="Arial"/>
                <a:ea typeface="Arial"/>
                <a:cs typeface="Arial"/>
                <a:sym typeface="Arial"/>
              </a:rPr>
              <a:t>12</a:t>
            </a:r>
            <a:endParaRPr/>
          </a:p>
        </p:txBody>
      </p:sp>
      <p:sp>
        <p:nvSpPr>
          <p:cNvPr id="111" name="Google Shape;111;p15"/>
          <p:cNvSpPr txBox="1"/>
          <p:nvPr/>
        </p:nvSpPr>
        <p:spPr>
          <a:xfrm>
            <a:off x="540867" y="2880360"/>
            <a:ext cx="26060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years of the pledge</a:t>
            </a:r>
            <a:endParaRPr/>
          </a:p>
        </p:txBody>
      </p:sp>
      <p:sp>
        <p:nvSpPr>
          <p:cNvPr id="112" name="Google Shape;112;p15"/>
          <p:cNvSpPr txBox="1"/>
          <p:nvPr/>
        </p:nvSpPr>
        <p:spPr>
          <a:xfrm>
            <a:off x="3375507" y="1737360"/>
            <a:ext cx="2606040" cy="10058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1E1E1E"/>
                </a:solidFill>
                <a:latin typeface="Arial"/>
                <a:ea typeface="Arial"/>
                <a:cs typeface="Arial"/>
                <a:sym typeface="Arial"/>
              </a:rPr>
              <a:t>2,700+</a:t>
            </a:r>
            <a:endParaRPr/>
          </a:p>
        </p:txBody>
      </p:sp>
      <p:sp>
        <p:nvSpPr>
          <p:cNvPr id="113" name="Google Shape;113;p15"/>
          <p:cNvSpPr txBox="1"/>
          <p:nvPr/>
        </p:nvSpPr>
        <p:spPr>
          <a:xfrm>
            <a:off x="3375507" y="2880360"/>
            <a:ext cx="26060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fab labs</a:t>
            </a:r>
            <a:endParaRPr/>
          </a:p>
        </p:txBody>
      </p:sp>
      <p:sp>
        <p:nvSpPr>
          <p:cNvPr id="114" name="Google Shape;114;p15"/>
          <p:cNvSpPr txBox="1"/>
          <p:nvPr/>
        </p:nvSpPr>
        <p:spPr>
          <a:xfrm>
            <a:off x="6210147" y="1737360"/>
            <a:ext cx="2606040" cy="10058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1E1E1E"/>
                </a:solidFill>
                <a:latin typeface="Arial"/>
                <a:ea typeface="Arial"/>
                <a:cs typeface="Arial"/>
                <a:sym typeface="Arial"/>
              </a:rPr>
              <a:t>56</a:t>
            </a:r>
            <a:endParaRPr/>
          </a:p>
        </p:txBody>
      </p:sp>
      <p:sp>
        <p:nvSpPr>
          <p:cNvPr id="115" name="Google Shape;115;p15"/>
          <p:cNvSpPr txBox="1"/>
          <p:nvPr/>
        </p:nvSpPr>
        <p:spPr>
          <a:xfrm>
            <a:off x="6210147" y="2880360"/>
            <a:ext cx="26060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signatory cities</a:t>
            </a:r>
            <a:endParaRPr/>
          </a:p>
        </p:txBody>
      </p:sp>
      <p:sp>
        <p:nvSpPr>
          <p:cNvPr id="116" name="Google Shape;116;p15"/>
          <p:cNvSpPr txBox="1"/>
          <p:nvPr/>
        </p:nvSpPr>
        <p:spPr>
          <a:xfrm>
            <a:off x="9044787" y="1737360"/>
            <a:ext cx="2606040" cy="10058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5400" u="none" cap="none" strike="noStrike">
                <a:solidFill>
                  <a:srgbClr val="E62038"/>
                </a:solidFill>
                <a:latin typeface="Arial"/>
                <a:ea typeface="Arial"/>
                <a:cs typeface="Arial"/>
                <a:sym typeface="Arial"/>
              </a:rPr>
              <a:t>0</a:t>
            </a:r>
            <a:endParaRPr/>
          </a:p>
        </p:txBody>
      </p:sp>
      <p:sp>
        <p:nvSpPr>
          <p:cNvPr id="117" name="Google Shape;117;p15"/>
          <p:cNvSpPr txBox="1"/>
          <p:nvPr/>
        </p:nvSpPr>
        <p:spPr>
          <a:xfrm>
            <a:off x="9044787" y="2880360"/>
            <a:ext cx="26060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8A8782"/>
                </a:solidFill>
                <a:latin typeface="Arial"/>
                <a:ea typeface="Arial"/>
                <a:cs typeface="Arial"/>
                <a:sym typeface="Arial"/>
              </a:rPr>
              <a:t>rigorous causal evidence</a:t>
            </a:r>
            <a:endParaRPr/>
          </a:p>
        </p:txBody>
      </p:sp>
      <p:sp>
        <p:nvSpPr>
          <p:cNvPr id="118" name="Google Shape;118;p15"/>
          <p:cNvSpPr txBox="1"/>
          <p:nvPr/>
        </p:nvSpPr>
        <p:spPr>
          <a:xfrm>
            <a:off x="2011680" y="4297680"/>
            <a:ext cx="813816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E1E1E"/>
                </a:solidFill>
                <a:latin typeface="Arial"/>
                <a:ea typeface="Arial"/>
                <a:cs typeface="Arial"/>
                <a:sym typeface="Arial"/>
              </a:rPr>
              <a:t>A 2025 review went through ~1,000 Fab Lab impact studies and found none of it, no causal evidence at the tier where the planetary stakes live.</a:t>
            </a:r>
            <a:endParaRPr/>
          </a:p>
          <a:p>
            <a:pPr indent="0" lvl="0" marL="0" marR="0" rtl="0" algn="l">
              <a:spcBef>
                <a:spcPts val="0"/>
              </a:spcBef>
              <a:spcAft>
                <a:spcPts val="0"/>
              </a:spcAft>
              <a:buNone/>
            </a:pPr>
            <a:r>
              <a:rPr b="1" i="0" lang="en-US" sz="1500" u="none" cap="none" strike="noStrike">
                <a:solidFill>
                  <a:srgbClr val="1E1E1E"/>
                </a:solidFill>
                <a:latin typeface="Arial"/>
                <a:ea typeface="Arial"/>
                <a:cs typeface="Arial"/>
                <a:sym typeface="Arial"/>
              </a:rPr>
              <a:t>The pledge needs an instrument. And this room is sitting inside one of its four pilots.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123" name="Shape 123"/>
        <p:cNvGrpSpPr/>
        <p:nvPr/>
      </p:nvGrpSpPr>
      <p:grpSpPr>
        <a:xfrm>
          <a:off x="0" y="0"/>
          <a:ext cx="0" cy="0"/>
          <a:chOff x="0" y="0"/>
          <a:chExt cx="0" cy="0"/>
        </a:xfrm>
      </p:grpSpPr>
      <p:sp>
        <p:nvSpPr>
          <p:cNvPr id="124" name="Google Shape;124;p16"/>
          <p:cNvSpPr txBox="1"/>
          <p:nvPr/>
        </p:nvSpPr>
        <p:spPr>
          <a:xfrm>
            <a:off x="640080" y="411480"/>
            <a:ext cx="82296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E1E1E"/>
                </a:solidFill>
                <a:latin typeface="Arial"/>
                <a:ea typeface="Arial"/>
                <a:cs typeface="Arial"/>
                <a:sym typeface="Arial"/>
              </a:rPr>
              <a:t>The Full Stack: where change happens</a:t>
            </a:r>
            <a:endParaRPr/>
          </a:p>
        </p:txBody>
      </p:sp>
      <p:sp>
        <p:nvSpPr>
          <p:cNvPr id="125" name="Google Shape;125;p16"/>
          <p:cNvSpPr txBox="1"/>
          <p:nvPr/>
        </p:nvSpPr>
        <p:spPr>
          <a:xfrm>
            <a:off x="640080" y="960120"/>
            <a:ext cx="8229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8A8782"/>
                </a:solidFill>
                <a:latin typeface="Arial"/>
                <a:ea typeface="Arial"/>
                <a:cs typeface="Arial"/>
                <a:sym typeface="Arial"/>
              </a:rPr>
              <a:t>Diez et al., 2024</a:t>
            </a:r>
            <a:endParaRPr/>
          </a:p>
        </p:txBody>
      </p:sp>
      <p:sp>
        <p:nvSpPr>
          <p:cNvPr id="126" name="Google Shape;126;p16"/>
          <p:cNvSpPr/>
          <p:nvPr/>
        </p:nvSpPr>
        <p:spPr>
          <a:xfrm>
            <a:off x="640080" y="1508760"/>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6"/>
          <p:cNvSpPr txBox="1"/>
          <p:nvPr/>
        </p:nvSpPr>
        <p:spPr>
          <a:xfrm>
            <a:off x="868680" y="1655063"/>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1</a:t>
            </a:r>
            <a:endParaRPr/>
          </a:p>
        </p:txBody>
      </p:sp>
      <p:sp>
        <p:nvSpPr>
          <p:cNvPr id="128" name="Google Shape;128;p16"/>
          <p:cNvSpPr txBox="1"/>
          <p:nvPr/>
        </p:nvSpPr>
        <p:spPr>
          <a:xfrm>
            <a:off x="1371600" y="1664207"/>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Infrastructures for production</a:t>
            </a:r>
            <a:endParaRPr/>
          </a:p>
        </p:txBody>
      </p:sp>
      <p:sp>
        <p:nvSpPr>
          <p:cNvPr id="129" name="Google Shape;129;p16"/>
          <p:cNvSpPr/>
          <p:nvPr/>
        </p:nvSpPr>
        <p:spPr>
          <a:xfrm>
            <a:off x="640080" y="2221991"/>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6"/>
          <p:cNvSpPr txBox="1"/>
          <p:nvPr/>
        </p:nvSpPr>
        <p:spPr>
          <a:xfrm>
            <a:off x="868680" y="2368296"/>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2</a:t>
            </a:r>
            <a:endParaRPr/>
          </a:p>
        </p:txBody>
      </p:sp>
      <p:sp>
        <p:nvSpPr>
          <p:cNvPr id="131" name="Google Shape;131;p16"/>
          <p:cNvSpPr txBox="1"/>
          <p:nvPr/>
        </p:nvSpPr>
        <p:spPr>
          <a:xfrm>
            <a:off x="1371600" y="2377439"/>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Capabilities through education</a:t>
            </a:r>
            <a:endParaRPr/>
          </a:p>
        </p:txBody>
      </p:sp>
      <p:sp>
        <p:nvSpPr>
          <p:cNvPr id="132" name="Google Shape;132;p16"/>
          <p:cNvSpPr/>
          <p:nvPr/>
        </p:nvSpPr>
        <p:spPr>
          <a:xfrm>
            <a:off x="640080" y="2935224"/>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txBox="1"/>
          <p:nvPr/>
        </p:nvSpPr>
        <p:spPr>
          <a:xfrm>
            <a:off x="868680" y="3081528"/>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3</a:t>
            </a:r>
            <a:endParaRPr/>
          </a:p>
        </p:txBody>
      </p:sp>
      <p:sp>
        <p:nvSpPr>
          <p:cNvPr id="134" name="Google Shape;134;p16"/>
          <p:cNvSpPr txBox="1"/>
          <p:nvPr/>
        </p:nvSpPr>
        <p:spPr>
          <a:xfrm>
            <a:off x="1371600" y="3090672"/>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Value-generating projects</a:t>
            </a:r>
            <a:endParaRPr/>
          </a:p>
        </p:txBody>
      </p:sp>
      <p:sp>
        <p:nvSpPr>
          <p:cNvPr id="135" name="Google Shape;135;p16"/>
          <p:cNvSpPr/>
          <p:nvPr/>
        </p:nvSpPr>
        <p:spPr>
          <a:xfrm>
            <a:off x="640080" y="3648456"/>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6"/>
          <p:cNvSpPr txBox="1"/>
          <p:nvPr/>
        </p:nvSpPr>
        <p:spPr>
          <a:xfrm>
            <a:off x="868680" y="3794759"/>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4</a:t>
            </a:r>
            <a:endParaRPr/>
          </a:p>
        </p:txBody>
      </p:sp>
      <p:sp>
        <p:nvSpPr>
          <p:cNvPr id="137" name="Google Shape;137;p16"/>
          <p:cNvSpPr txBox="1"/>
          <p:nvPr/>
        </p:nvSpPr>
        <p:spPr>
          <a:xfrm>
            <a:off x="1371600" y="3803904"/>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Orchestrating networks &amp; hubs</a:t>
            </a:r>
            <a:endParaRPr/>
          </a:p>
        </p:txBody>
      </p:sp>
      <p:sp>
        <p:nvSpPr>
          <p:cNvPr id="138" name="Google Shape;138;p16"/>
          <p:cNvSpPr/>
          <p:nvPr/>
        </p:nvSpPr>
        <p:spPr>
          <a:xfrm>
            <a:off x="640080" y="4361688"/>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868680" y="4507992"/>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5</a:t>
            </a:r>
            <a:endParaRPr/>
          </a:p>
        </p:txBody>
      </p:sp>
      <p:sp>
        <p:nvSpPr>
          <p:cNvPr id="140" name="Google Shape;140;p16"/>
          <p:cNvSpPr txBox="1"/>
          <p:nvPr/>
        </p:nvSpPr>
        <p:spPr>
          <a:xfrm>
            <a:off x="1371600" y="4517136"/>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Place-based interventions &amp; policy</a:t>
            </a:r>
            <a:endParaRPr/>
          </a:p>
        </p:txBody>
      </p:sp>
      <p:sp>
        <p:nvSpPr>
          <p:cNvPr id="141" name="Google Shape;141;p16"/>
          <p:cNvSpPr/>
          <p:nvPr/>
        </p:nvSpPr>
        <p:spPr>
          <a:xfrm>
            <a:off x="640080" y="5074920"/>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6"/>
          <p:cNvSpPr txBox="1"/>
          <p:nvPr/>
        </p:nvSpPr>
        <p:spPr>
          <a:xfrm>
            <a:off x="868680" y="5221224"/>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6</a:t>
            </a:r>
            <a:endParaRPr/>
          </a:p>
        </p:txBody>
      </p:sp>
      <p:sp>
        <p:nvSpPr>
          <p:cNvPr id="143" name="Google Shape;143;p16"/>
          <p:cNvSpPr txBox="1"/>
          <p:nvPr/>
        </p:nvSpPr>
        <p:spPr>
          <a:xfrm>
            <a:off x="1371600" y="5230368"/>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Bioregional strategies</a:t>
            </a:r>
            <a:endParaRPr/>
          </a:p>
        </p:txBody>
      </p:sp>
      <p:sp>
        <p:nvSpPr>
          <p:cNvPr id="144" name="Google Shape;144;p16"/>
          <p:cNvSpPr/>
          <p:nvPr/>
        </p:nvSpPr>
        <p:spPr>
          <a:xfrm>
            <a:off x="640080" y="5788152"/>
            <a:ext cx="5852160" cy="621792"/>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868680" y="5934456"/>
            <a:ext cx="4572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62038"/>
                </a:solidFill>
                <a:latin typeface="Arial"/>
                <a:ea typeface="Arial"/>
                <a:cs typeface="Arial"/>
                <a:sym typeface="Arial"/>
              </a:rPr>
              <a:t>7</a:t>
            </a:r>
            <a:endParaRPr/>
          </a:p>
        </p:txBody>
      </p:sp>
      <p:sp>
        <p:nvSpPr>
          <p:cNvPr id="146" name="Google Shape;146;p16"/>
          <p:cNvSpPr txBox="1"/>
          <p:nvPr/>
        </p:nvSpPr>
        <p:spPr>
          <a:xfrm>
            <a:off x="1371600" y="5943600"/>
            <a:ext cx="493776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E1E1E"/>
                </a:solidFill>
                <a:latin typeface="Arial"/>
                <a:ea typeface="Arial"/>
                <a:cs typeface="Arial"/>
                <a:sym typeface="Arial"/>
              </a:rPr>
              <a:t>Global knowledge sharing</a:t>
            </a:r>
            <a:endParaRPr/>
          </a:p>
        </p:txBody>
      </p:sp>
      <p:sp>
        <p:nvSpPr>
          <p:cNvPr id="147" name="Google Shape;147;p16"/>
          <p:cNvSpPr txBox="1"/>
          <p:nvPr/>
        </p:nvSpPr>
        <p:spPr>
          <a:xfrm>
            <a:off x="6949440" y="2194560"/>
            <a:ext cx="4572000" cy="3291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1E1E1E"/>
                </a:solidFill>
                <a:latin typeface="Arial"/>
                <a:ea typeface="Arial"/>
                <a:cs typeface="Arial"/>
                <a:sym typeface="Arial"/>
              </a:rPr>
              <a:t>Not a ladder.</a:t>
            </a:r>
            <a:endParaRPr/>
          </a:p>
          <a:p>
            <a:pPr indent="0" lvl="0" marL="0" marR="0" rtl="0" algn="l">
              <a:spcBef>
                <a:spcPts val="0"/>
              </a:spcBef>
              <a:spcAft>
                <a:spcPts val="0"/>
              </a:spcAft>
              <a:buNone/>
            </a:pPr>
            <a:r>
              <a:rPr b="0" i="0" lang="en-US" sz="1400" u="none" cap="none" strike="noStrike">
                <a:solidFill>
                  <a:srgbClr val="1E1E1E"/>
                </a:solidFill>
                <a:latin typeface="Arial"/>
                <a:ea typeface="Arial"/>
                <a:cs typeface="Arial"/>
                <a:sym typeface="Arial"/>
              </a:rPr>
              <a:t>Seven interdependent layers, from the machines in the lab to the knowledge the network shares back. This is the architecture of where change happens, and where it gets governed and evaluated.</a:t>
            </a:r>
            <a:endParaRPr/>
          </a:p>
          <a:p>
            <a:pPr indent="0" lvl="0" marL="0" marR="0" rtl="0" algn="l">
              <a:spcBef>
                <a:spcPts val="0"/>
              </a:spcBef>
              <a:spcAft>
                <a:spcPts val="0"/>
              </a:spcAft>
              <a:buNone/>
            </a:pPr>
            <a:r>
              <a:rPr b="1" i="0" lang="en-US" sz="1400" u="none" cap="none" strike="noStrike">
                <a:solidFill>
                  <a:srgbClr val="E62038"/>
                </a:solidFill>
                <a:latin typeface="Arial"/>
                <a:ea typeface="Arial"/>
                <a:cs typeface="Arial"/>
                <a:sym typeface="Arial"/>
              </a:rPr>
              <a:t>To measure it, we fold it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152" name="Shape 152"/>
        <p:cNvGrpSpPr/>
        <p:nvPr/>
      </p:nvGrpSpPr>
      <p:grpSpPr>
        <a:xfrm>
          <a:off x="0" y="0"/>
          <a:ext cx="0" cy="0"/>
          <a:chOff x="0" y="0"/>
          <a:chExt cx="0" cy="0"/>
        </a:xfrm>
      </p:grpSpPr>
      <p:sp>
        <p:nvSpPr>
          <p:cNvPr id="153" name="Google Shape;153;p17"/>
          <p:cNvSpPr txBox="1"/>
          <p:nvPr/>
        </p:nvSpPr>
        <p:spPr>
          <a:xfrm>
            <a:off x="640080" y="3657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1E1E1E"/>
                </a:solidFill>
                <a:latin typeface="Arial"/>
                <a:ea typeface="Arial"/>
                <a:cs typeface="Arial"/>
                <a:sym typeface="Arial"/>
              </a:rPr>
              <a:t>The Full Stack Metrics Matrix, 4 × 5 = 20 cells</a:t>
            </a:r>
            <a:endParaRPr/>
          </a:p>
        </p:txBody>
      </p:sp>
      <p:sp>
        <p:nvSpPr>
          <p:cNvPr id="154" name="Google Shape;154;p17"/>
          <p:cNvSpPr txBox="1"/>
          <p:nvPr/>
        </p:nvSpPr>
        <p:spPr>
          <a:xfrm>
            <a:off x="640080" y="896112"/>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8A8782"/>
                </a:solidFill>
                <a:latin typeface="Arial"/>
                <a:ea typeface="Arial"/>
                <a:cs typeface="Arial"/>
                <a:sym typeface="Arial"/>
              </a:rPr>
              <a:t>Tomás Vivanco, commissioned · unpublished. </a:t>
            </a:r>
            <a:r>
              <a:rPr b="1" i="0" lang="en-US" sz="1200" u="none" cap="none" strike="noStrike">
                <a:solidFill>
                  <a:srgbClr val="E62038"/>
                </a:solidFill>
                <a:latin typeface="Arial"/>
                <a:ea typeface="Arial"/>
                <a:cs typeface="Arial"/>
                <a:sym typeface="Arial"/>
              </a:rPr>
              <a:t>You are the first room to work with it.</a:t>
            </a:r>
            <a:endParaRPr/>
          </a:p>
        </p:txBody>
      </p:sp>
      <p:sp>
        <p:nvSpPr>
          <p:cNvPr id="155" name="Google Shape;155;p17"/>
          <p:cNvSpPr txBox="1"/>
          <p:nvPr/>
        </p:nvSpPr>
        <p:spPr>
          <a:xfrm>
            <a:off x="2377440" y="1417320"/>
            <a:ext cx="17830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8A8782"/>
                </a:solidFill>
                <a:latin typeface="Arial"/>
                <a:ea typeface="Arial"/>
                <a:cs typeface="Arial"/>
                <a:sym typeface="Arial"/>
              </a:rPr>
              <a:t>Community</a:t>
            </a:r>
            <a:endParaRPr/>
          </a:p>
        </p:txBody>
      </p:sp>
      <p:sp>
        <p:nvSpPr>
          <p:cNvPr id="156" name="Google Shape;156;p17"/>
          <p:cNvSpPr txBox="1"/>
          <p:nvPr/>
        </p:nvSpPr>
        <p:spPr>
          <a:xfrm>
            <a:off x="4270248" y="1417320"/>
            <a:ext cx="17830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8A8782"/>
                </a:solidFill>
                <a:latin typeface="Arial"/>
                <a:ea typeface="Arial"/>
                <a:cs typeface="Arial"/>
                <a:sym typeface="Arial"/>
              </a:rPr>
              <a:t>City</a:t>
            </a:r>
            <a:endParaRPr/>
          </a:p>
        </p:txBody>
      </p:sp>
      <p:sp>
        <p:nvSpPr>
          <p:cNvPr id="157" name="Google Shape;157;p17"/>
          <p:cNvSpPr txBox="1"/>
          <p:nvPr/>
        </p:nvSpPr>
        <p:spPr>
          <a:xfrm>
            <a:off x="6163056" y="1417320"/>
            <a:ext cx="17830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8A8782"/>
                </a:solidFill>
                <a:latin typeface="Arial"/>
                <a:ea typeface="Arial"/>
                <a:cs typeface="Arial"/>
                <a:sym typeface="Arial"/>
              </a:rPr>
              <a:t>Region</a:t>
            </a:r>
            <a:endParaRPr/>
          </a:p>
        </p:txBody>
      </p:sp>
      <p:sp>
        <p:nvSpPr>
          <p:cNvPr id="158" name="Google Shape;158;p17"/>
          <p:cNvSpPr txBox="1"/>
          <p:nvPr/>
        </p:nvSpPr>
        <p:spPr>
          <a:xfrm>
            <a:off x="8055863" y="1417320"/>
            <a:ext cx="17830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8A8782"/>
                </a:solidFill>
                <a:latin typeface="Arial"/>
                <a:ea typeface="Arial"/>
                <a:cs typeface="Arial"/>
                <a:sym typeface="Arial"/>
              </a:rPr>
              <a:t>Bioregion</a:t>
            </a:r>
            <a:endParaRPr/>
          </a:p>
        </p:txBody>
      </p:sp>
      <p:sp>
        <p:nvSpPr>
          <p:cNvPr id="159" name="Google Shape;159;p17"/>
          <p:cNvSpPr txBox="1"/>
          <p:nvPr/>
        </p:nvSpPr>
        <p:spPr>
          <a:xfrm>
            <a:off x="9948672" y="1417320"/>
            <a:ext cx="178308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8A8782"/>
                </a:solidFill>
                <a:latin typeface="Arial"/>
                <a:ea typeface="Arial"/>
                <a:cs typeface="Arial"/>
                <a:sym typeface="Arial"/>
              </a:rPr>
              <a:t>Planet</a:t>
            </a:r>
            <a:endParaRPr/>
          </a:p>
        </p:txBody>
      </p:sp>
      <p:sp>
        <p:nvSpPr>
          <p:cNvPr id="160" name="Google Shape;160;p17"/>
          <p:cNvSpPr txBox="1"/>
          <p:nvPr/>
        </p:nvSpPr>
        <p:spPr>
          <a:xfrm>
            <a:off x="594360" y="2103120"/>
            <a:ext cx="16916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E1E1E"/>
                </a:solidFill>
                <a:latin typeface="Arial"/>
                <a:ea typeface="Arial"/>
                <a:cs typeface="Arial"/>
                <a:sym typeface="Arial"/>
              </a:rPr>
              <a:t>Environmental</a:t>
            </a:r>
            <a:endParaRPr/>
          </a:p>
        </p:txBody>
      </p:sp>
      <p:sp>
        <p:nvSpPr>
          <p:cNvPr id="161" name="Google Shape;161;p17"/>
          <p:cNvSpPr/>
          <p:nvPr/>
        </p:nvSpPr>
        <p:spPr>
          <a:xfrm>
            <a:off x="2377440" y="1828800"/>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7"/>
          <p:cNvSpPr/>
          <p:nvPr/>
        </p:nvSpPr>
        <p:spPr>
          <a:xfrm>
            <a:off x="4270248" y="1828800"/>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7"/>
          <p:cNvSpPr/>
          <p:nvPr/>
        </p:nvSpPr>
        <p:spPr>
          <a:xfrm>
            <a:off x="6163056" y="1828800"/>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7"/>
          <p:cNvSpPr/>
          <p:nvPr/>
        </p:nvSpPr>
        <p:spPr>
          <a:xfrm>
            <a:off x="8055863" y="1828800"/>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7"/>
          <p:cNvSpPr/>
          <p:nvPr/>
        </p:nvSpPr>
        <p:spPr>
          <a:xfrm>
            <a:off x="9948672" y="1828800"/>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7"/>
          <p:cNvSpPr txBox="1"/>
          <p:nvPr/>
        </p:nvSpPr>
        <p:spPr>
          <a:xfrm>
            <a:off x="594360" y="3054096"/>
            <a:ext cx="16916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E1E1E"/>
                </a:solidFill>
                <a:latin typeface="Arial"/>
                <a:ea typeface="Arial"/>
                <a:cs typeface="Arial"/>
                <a:sym typeface="Arial"/>
              </a:rPr>
              <a:t>Social</a:t>
            </a:r>
            <a:endParaRPr/>
          </a:p>
        </p:txBody>
      </p:sp>
      <p:sp>
        <p:nvSpPr>
          <p:cNvPr id="167" name="Google Shape;167;p17"/>
          <p:cNvSpPr/>
          <p:nvPr/>
        </p:nvSpPr>
        <p:spPr>
          <a:xfrm>
            <a:off x="2377440" y="2779776"/>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7"/>
          <p:cNvSpPr/>
          <p:nvPr/>
        </p:nvSpPr>
        <p:spPr>
          <a:xfrm>
            <a:off x="4270248" y="2779776"/>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7"/>
          <p:cNvSpPr/>
          <p:nvPr/>
        </p:nvSpPr>
        <p:spPr>
          <a:xfrm>
            <a:off x="6163056" y="2779776"/>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7"/>
          <p:cNvSpPr/>
          <p:nvPr/>
        </p:nvSpPr>
        <p:spPr>
          <a:xfrm>
            <a:off x="8055863" y="2779776"/>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7"/>
          <p:cNvSpPr/>
          <p:nvPr/>
        </p:nvSpPr>
        <p:spPr>
          <a:xfrm>
            <a:off x="9948672" y="2779776"/>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7"/>
          <p:cNvSpPr txBox="1"/>
          <p:nvPr/>
        </p:nvSpPr>
        <p:spPr>
          <a:xfrm>
            <a:off x="594360" y="4005072"/>
            <a:ext cx="16916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E1E1E"/>
                </a:solidFill>
                <a:latin typeface="Arial"/>
                <a:ea typeface="Arial"/>
                <a:cs typeface="Arial"/>
                <a:sym typeface="Arial"/>
              </a:rPr>
              <a:t>Economic</a:t>
            </a:r>
            <a:endParaRPr/>
          </a:p>
        </p:txBody>
      </p:sp>
      <p:sp>
        <p:nvSpPr>
          <p:cNvPr id="173" name="Google Shape;173;p17"/>
          <p:cNvSpPr/>
          <p:nvPr/>
        </p:nvSpPr>
        <p:spPr>
          <a:xfrm>
            <a:off x="2377440" y="3730752"/>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7"/>
          <p:cNvSpPr/>
          <p:nvPr/>
        </p:nvSpPr>
        <p:spPr>
          <a:xfrm>
            <a:off x="4270248" y="3730752"/>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7"/>
          <p:cNvSpPr/>
          <p:nvPr/>
        </p:nvSpPr>
        <p:spPr>
          <a:xfrm>
            <a:off x="6163056" y="3730752"/>
            <a:ext cx="1783080" cy="841248"/>
          </a:xfrm>
          <a:prstGeom prst="roundRect">
            <a:avLst>
              <a:gd fmla="val 16667" name="adj"/>
            </a:avLst>
          </a:prstGeom>
          <a:solidFill>
            <a:srgbClr val="E6203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7"/>
          <p:cNvSpPr txBox="1"/>
          <p:nvPr/>
        </p:nvSpPr>
        <p:spPr>
          <a:xfrm>
            <a:off x="6163056" y="3895344"/>
            <a:ext cx="178308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7F5F1"/>
                </a:solidFill>
                <a:latin typeface="Arial"/>
                <a:ea typeface="Arial"/>
                <a:cs typeface="Arial"/>
                <a:sym typeface="Arial"/>
              </a:rPr>
              <a:t>GEN 1+2</a:t>
            </a:r>
            <a:endParaRPr/>
          </a:p>
          <a:p>
            <a:pPr indent="0" lvl="0" marL="0" marR="0" rtl="0" algn="ctr">
              <a:spcBef>
                <a:spcPts val="0"/>
              </a:spcBef>
              <a:spcAft>
                <a:spcPts val="0"/>
              </a:spcAft>
              <a:buNone/>
            </a:pPr>
            <a:r>
              <a:rPr b="0" i="0" lang="en-US" sz="1000" u="none" cap="none" strike="noStrike">
                <a:solidFill>
                  <a:srgbClr val="F7F5F1"/>
                </a:solidFill>
                <a:latin typeface="Arial"/>
                <a:ea typeface="Arial"/>
                <a:cs typeface="Arial"/>
                <a:sym typeface="Arial"/>
              </a:rPr>
              <a:t>the 37 cell</a:t>
            </a:r>
            <a:endParaRPr/>
          </a:p>
        </p:txBody>
      </p:sp>
      <p:sp>
        <p:nvSpPr>
          <p:cNvPr id="177" name="Google Shape;177;p17"/>
          <p:cNvSpPr/>
          <p:nvPr/>
        </p:nvSpPr>
        <p:spPr>
          <a:xfrm>
            <a:off x="8055863" y="3730752"/>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7"/>
          <p:cNvSpPr/>
          <p:nvPr/>
        </p:nvSpPr>
        <p:spPr>
          <a:xfrm>
            <a:off x="9948672" y="3730752"/>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7"/>
          <p:cNvSpPr txBox="1"/>
          <p:nvPr/>
        </p:nvSpPr>
        <p:spPr>
          <a:xfrm>
            <a:off x="594360" y="4956048"/>
            <a:ext cx="16916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E1E1E"/>
                </a:solidFill>
                <a:latin typeface="Arial"/>
                <a:ea typeface="Arial"/>
                <a:cs typeface="Arial"/>
                <a:sym typeface="Arial"/>
              </a:rPr>
              <a:t>Governance</a:t>
            </a:r>
            <a:endParaRPr/>
          </a:p>
        </p:txBody>
      </p:sp>
      <p:sp>
        <p:nvSpPr>
          <p:cNvPr id="180" name="Google Shape;180;p17"/>
          <p:cNvSpPr/>
          <p:nvPr/>
        </p:nvSpPr>
        <p:spPr>
          <a:xfrm>
            <a:off x="2377440" y="4681728"/>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7"/>
          <p:cNvSpPr/>
          <p:nvPr/>
        </p:nvSpPr>
        <p:spPr>
          <a:xfrm>
            <a:off x="4270248" y="4681728"/>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7"/>
          <p:cNvSpPr/>
          <p:nvPr/>
        </p:nvSpPr>
        <p:spPr>
          <a:xfrm>
            <a:off x="6163056" y="4681728"/>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7"/>
          <p:cNvSpPr/>
          <p:nvPr/>
        </p:nvSpPr>
        <p:spPr>
          <a:xfrm>
            <a:off x="8055863" y="4681728"/>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7"/>
          <p:cNvSpPr/>
          <p:nvPr/>
        </p:nvSpPr>
        <p:spPr>
          <a:xfrm>
            <a:off x="9948672" y="4681728"/>
            <a:ext cx="1783080" cy="841248"/>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7"/>
          <p:cNvSpPr txBox="1"/>
          <p:nvPr/>
        </p:nvSpPr>
        <p:spPr>
          <a:xfrm>
            <a:off x="2377440" y="5806440"/>
            <a:ext cx="93268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E1E1E"/>
                </a:solidFill>
                <a:latin typeface="Arial"/>
                <a:ea typeface="Arial"/>
                <a:cs typeface="Arial"/>
                <a:sym typeface="Arial"/>
              </a:rPr>
              <a:t>Gen 1+2 computed one cell of twenty, with rigour. Local success does not automatically sum to global sustainability; the matrix exists so a city can't fool itself.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90" name="Shape 190"/>
        <p:cNvGrpSpPr/>
        <p:nvPr/>
      </p:nvGrpSpPr>
      <p:grpSpPr>
        <a:xfrm>
          <a:off x="0" y="0"/>
          <a:ext cx="0" cy="0"/>
          <a:chOff x="0" y="0"/>
          <a:chExt cx="0" cy="0"/>
        </a:xfrm>
      </p:grpSpPr>
      <p:sp>
        <p:nvSpPr>
          <p:cNvPr id="191" name="Google Shape;191;p18"/>
          <p:cNvSpPr txBox="1"/>
          <p:nvPr/>
        </p:nvSpPr>
        <p:spPr>
          <a:xfrm>
            <a:off x="640080" y="502920"/>
            <a:ext cx="10972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7F5F1"/>
                </a:solidFill>
                <a:latin typeface="Arial"/>
                <a:ea typeface="Arial"/>
                <a:cs typeface="Arial"/>
                <a:sym typeface="Arial"/>
              </a:rPr>
              <a:t>Three dials, not a sum</a:t>
            </a:r>
            <a:endParaRPr/>
          </a:p>
        </p:txBody>
      </p:sp>
      <p:sp>
        <p:nvSpPr>
          <p:cNvPr id="192" name="Google Shape;192;p18"/>
          <p:cNvSpPr/>
          <p:nvPr/>
        </p:nvSpPr>
        <p:spPr>
          <a:xfrm>
            <a:off x="518007" y="1554480"/>
            <a:ext cx="3200400" cy="2286000"/>
          </a:xfrm>
          <a:prstGeom prst="roundRect">
            <a:avLst>
              <a:gd fmla="val 16667" name="adj"/>
            </a:avLst>
          </a:prstGeom>
          <a:solidFill>
            <a:srgbClr val="2C2C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8"/>
          <p:cNvSpPr txBox="1"/>
          <p:nvPr/>
        </p:nvSpPr>
        <p:spPr>
          <a:xfrm>
            <a:off x="518007" y="1828800"/>
            <a:ext cx="3200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F7F5F1"/>
                </a:solidFill>
                <a:latin typeface="Arial"/>
                <a:ea typeface="Arial"/>
                <a:cs typeface="Arial"/>
                <a:sym typeface="Arial"/>
              </a:rPr>
              <a:t>DIDO</a:t>
            </a:r>
            <a:endParaRPr/>
          </a:p>
        </p:txBody>
      </p:sp>
      <p:sp>
        <p:nvSpPr>
          <p:cNvPr id="194" name="Google Shape;194;p18"/>
          <p:cNvSpPr txBox="1"/>
          <p:nvPr/>
        </p:nvSpPr>
        <p:spPr>
          <a:xfrm>
            <a:off x="518007" y="2606040"/>
            <a:ext cx="32004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8A8782"/>
                </a:solidFill>
                <a:latin typeface="Arial"/>
                <a:ea typeface="Arial"/>
                <a:cs typeface="Arial"/>
                <a:sym typeface="Arial"/>
              </a:rPr>
              <a:t>what you can do</a:t>
            </a:r>
            <a:endParaRPr/>
          </a:p>
        </p:txBody>
      </p:sp>
      <p:sp>
        <p:nvSpPr>
          <p:cNvPr id="195" name="Google Shape;195;p18"/>
          <p:cNvSpPr txBox="1"/>
          <p:nvPr/>
        </p:nvSpPr>
        <p:spPr>
          <a:xfrm>
            <a:off x="518007" y="3108960"/>
            <a:ext cx="3200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E62038"/>
                </a:solidFill>
                <a:latin typeface="Arial"/>
                <a:ea typeface="Arial"/>
                <a:cs typeface="Arial"/>
                <a:sym typeface="Arial"/>
              </a:rPr>
              <a:t>CAPACITY</a:t>
            </a:r>
            <a:endParaRPr/>
          </a:p>
        </p:txBody>
      </p:sp>
      <p:sp>
        <p:nvSpPr>
          <p:cNvPr id="196" name="Google Shape;196;p18"/>
          <p:cNvSpPr txBox="1"/>
          <p:nvPr/>
        </p:nvSpPr>
        <p:spPr>
          <a:xfrm>
            <a:off x="3718407" y="2331720"/>
            <a:ext cx="7772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rgbClr val="E62038"/>
                </a:solidFill>
                <a:latin typeface="Arial"/>
                <a:ea typeface="Arial"/>
                <a:cs typeface="Arial"/>
                <a:sym typeface="Arial"/>
              </a:rPr>
              <a:t>×</a:t>
            </a:r>
            <a:endParaRPr/>
          </a:p>
        </p:txBody>
      </p:sp>
      <p:sp>
        <p:nvSpPr>
          <p:cNvPr id="197" name="Google Shape;197;p18"/>
          <p:cNvSpPr/>
          <p:nvPr/>
        </p:nvSpPr>
        <p:spPr>
          <a:xfrm>
            <a:off x="4495647" y="1554480"/>
            <a:ext cx="3200400" cy="2286000"/>
          </a:xfrm>
          <a:prstGeom prst="roundRect">
            <a:avLst>
              <a:gd fmla="val 16667" name="adj"/>
            </a:avLst>
          </a:prstGeom>
          <a:solidFill>
            <a:srgbClr val="2C2C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18"/>
          <p:cNvSpPr txBox="1"/>
          <p:nvPr/>
        </p:nvSpPr>
        <p:spPr>
          <a:xfrm>
            <a:off x="4495647" y="1828800"/>
            <a:ext cx="3200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F7F5F1"/>
                </a:solidFill>
                <a:latin typeface="Arial"/>
                <a:ea typeface="Arial"/>
                <a:cs typeface="Arial"/>
                <a:sym typeface="Arial"/>
              </a:rPr>
              <a:t>1 − PITO</a:t>
            </a:r>
            <a:endParaRPr/>
          </a:p>
        </p:txBody>
      </p:sp>
      <p:sp>
        <p:nvSpPr>
          <p:cNvPr id="199" name="Google Shape;199;p18"/>
          <p:cNvSpPr txBox="1"/>
          <p:nvPr/>
        </p:nvSpPr>
        <p:spPr>
          <a:xfrm>
            <a:off x="4495647" y="2606040"/>
            <a:ext cx="32004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8A8782"/>
                </a:solidFill>
                <a:latin typeface="Arial"/>
                <a:ea typeface="Arial"/>
                <a:cs typeface="Arial"/>
                <a:sym typeface="Arial"/>
              </a:rPr>
              <a:t>what you depend on</a:t>
            </a:r>
            <a:endParaRPr/>
          </a:p>
        </p:txBody>
      </p:sp>
      <p:sp>
        <p:nvSpPr>
          <p:cNvPr id="200" name="Google Shape;200;p18"/>
          <p:cNvSpPr txBox="1"/>
          <p:nvPr/>
        </p:nvSpPr>
        <p:spPr>
          <a:xfrm>
            <a:off x="4495647" y="3108960"/>
            <a:ext cx="3200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E62038"/>
                </a:solidFill>
                <a:latin typeface="Arial"/>
                <a:ea typeface="Arial"/>
                <a:cs typeface="Arial"/>
                <a:sym typeface="Arial"/>
              </a:rPr>
              <a:t>INDEPENDENCE</a:t>
            </a:r>
            <a:endParaRPr/>
          </a:p>
        </p:txBody>
      </p:sp>
      <p:sp>
        <p:nvSpPr>
          <p:cNvPr id="201" name="Google Shape;201;p18"/>
          <p:cNvSpPr txBox="1"/>
          <p:nvPr/>
        </p:nvSpPr>
        <p:spPr>
          <a:xfrm>
            <a:off x="7696047" y="2331720"/>
            <a:ext cx="77724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rgbClr val="E62038"/>
                </a:solidFill>
                <a:latin typeface="Arial"/>
                <a:ea typeface="Arial"/>
                <a:cs typeface="Arial"/>
                <a:sym typeface="Arial"/>
              </a:rPr>
              <a:t>×</a:t>
            </a:r>
            <a:endParaRPr/>
          </a:p>
        </p:txBody>
      </p:sp>
      <p:sp>
        <p:nvSpPr>
          <p:cNvPr id="202" name="Google Shape;202;p18"/>
          <p:cNvSpPr/>
          <p:nvPr/>
        </p:nvSpPr>
        <p:spPr>
          <a:xfrm>
            <a:off x="8473287" y="1554480"/>
            <a:ext cx="3200400" cy="2286000"/>
          </a:xfrm>
          <a:prstGeom prst="roundRect">
            <a:avLst>
              <a:gd fmla="val 16667" name="adj"/>
            </a:avLst>
          </a:prstGeom>
          <a:solidFill>
            <a:srgbClr val="2C2C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8"/>
          <p:cNvSpPr txBox="1"/>
          <p:nvPr/>
        </p:nvSpPr>
        <p:spPr>
          <a:xfrm>
            <a:off x="8473287" y="1828800"/>
            <a:ext cx="3200400"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F7F5F1"/>
                </a:solidFill>
                <a:latin typeface="Arial"/>
                <a:ea typeface="Arial"/>
                <a:cs typeface="Arial"/>
                <a:sym typeface="Arial"/>
              </a:rPr>
              <a:t>ρ</a:t>
            </a:r>
            <a:endParaRPr/>
          </a:p>
        </p:txBody>
      </p:sp>
      <p:sp>
        <p:nvSpPr>
          <p:cNvPr id="204" name="Google Shape;204;p18"/>
          <p:cNvSpPr txBox="1"/>
          <p:nvPr/>
        </p:nvSpPr>
        <p:spPr>
          <a:xfrm>
            <a:off x="8473287" y="2606040"/>
            <a:ext cx="32004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8A8782"/>
                </a:solidFill>
                <a:latin typeface="Arial"/>
                <a:ea typeface="Arial"/>
                <a:cs typeface="Arial"/>
                <a:sym typeface="Arial"/>
              </a:rPr>
              <a:t>how fast you react</a:t>
            </a:r>
            <a:endParaRPr/>
          </a:p>
        </p:txBody>
      </p:sp>
      <p:sp>
        <p:nvSpPr>
          <p:cNvPr id="205" name="Google Shape;205;p18"/>
          <p:cNvSpPr txBox="1"/>
          <p:nvPr/>
        </p:nvSpPr>
        <p:spPr>
          <a:xfrm>
            <a:off x="8473287" y="3108960"/>
            <a:ext cx="3200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E62038"/>
                </a:solidFill>
                <a:latin typeface="Arial"/>
                <a:ea typeface="Arial"/>
                <a:cs typeface="Arial"/>
                <a:sym typeface="Arial"/>
              </a:rPr>
              <a:t>REFLEXES</a:t>
            </a:r>
            <a:endParaRPr/>
          </a:p>
        </p:txBody>
      </p:sp>
      <p:sp>
        <p:nvSpPr>
          <p:cNvPr id="206" name="Google Shape;206;p18"/>
          <p:cNvSpPr txBox="1"/>
          <p:nvPr/>
        </p:nvSpPr>
        <p:spPr>
          <a:xfrm>
            <a:off x="1371600" y="4297680"/>
            <a:ext cx="9448495" cy="4114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600" u="none" cap="none" strike="noStrike">
                <a:solidFill>
                  <a:srgbClr val="E62038"/>
                </a:solidFill>
                <a:latin typeface="Arial"/>
                <a:ea typeface="Arial"/>
                <a:cs typeface="Arial"/>
                <a:sym typeface="Arial"/>
              </a:rPr>
              <a:t>They don't add. They multiply.</a:t>
            </a:r>
            <a:endParaRPr/>
          </a:p>
        </p:txBody>
      </p:sp>
      <p:sp>
        <p:nvSpPr>
          <p:cNvPr id="207" name="Google Shape;207;p18"/>
          <p:cNvSpPr txBox="1"/>
          <p:nvPr/>
        </p:nvSpPr>
        <p:spPr>
          <a:xfrm>
            <a:off x="1097280" y="5029200"/>
            <a:ext cx="999713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F7F5F1"/>
                </a:solidFill>
                <a:latin typeface="Arial"/>
                <a:ea typeface="Arial"/>
                <a:cs typeface="Arial"/>
                <a:sym typeface="Arial"/>
              </a:rPr>
              <a:t>A fab city is capacity, times independence, times reflexes.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212" name="Shape 212"/>
        <p:cNvGrpSpPr/>
        <p:nvPr/>
      </p:nvGrpSpPr>
      <p:grpSpPr>
        <a:xfrm>
          <a:off x="0" y="0"/>
          <a:ext cx="0" cy="0"/>
          <a:chOff x="0" y="0"/>
          <a:chExt cx="0" cy="0"/>
        </a:xfrm>
      </p:grpSpPr>
      <p:sp>
        <p:nvSpPr>
          <p:cNvPr id="213" name="Google Shape;213;p19"/>
          <p:cNvSpPr txBox="1"/>
          <p:nvPr/>
        </p:nvSpPr>
        <p:spPr>
          <a:xfrm>
            <a:off x="640080" y="457200"/>
            <a:ext cx="45720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E62038"/>
                </a:solidFill>
                <a:latin typeface="Arial"/>
                <a:ea typeface="Arial"/>
                <a:cs typeface="Arial"/>
                <a:sym typeface="Arial"/>
              </a:rPr>
              <a:t>VOTE</a:t>
            </a:r>
            <a:endParaRPr/>
          </a:p>
        </p:txBody>
      </p:sp>
      <p:sp>
        <p:nvSpPr>
          <p:cNvPr id="214" name="Google Shape;214;p19"/>
          <p:cNvSpPr/>
          <p:nvPr/>
        </p:nvSpPr>
        <p:spPr>
          <a:xfrm>
            <a:off x="640080" y="792480"/>
            <a:ext cx="594360" cy="19050"/>
          </a:xfrm>
          <a:prstGeom prst="rect">
            <a:avLst/>
          </a:prstGeom>
          <a:solidFill>
            <a:srgbClr val="E62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9"/>
          <p:cNvSpPr txBox="1"/>
          <p:nvPr/>
        </p:nvSpPr>
        <p:spPr>
          <a:xfrm>
            <a:off x="640080" y="8229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E1E1E"/>
                </a:solidFill>
                <a:latin typeface="Arial"/>
                <a:ea typeface="Arial"/>
                <a:cs typeface="Arial"/>
                <a:sym typeface="Arial"/>
              </a:rPr>
              <a:t>Which city scores highest?</a:t>
            </a:r>
            <a:endParaRPr/>
          </a:p>
        </p:txBody>
      </p:sp>
      <p:sp>
        <p:nvSpPr>
          <p:cNvPr id="216" name="Google Shape;216;p19"/>
          <p:cNvSpPr/>
          <p:nvPr/>
        </p:nvSpPr>
        <p:spPr>
          <a:xfrm>
            <a:off x="540867" y="1737360"/>
            <a:ext cx="3520440" cy="329184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9"/>
          <p:cNvSpPr txBox="1"/>
          <p:nvPr/>
        </p:nvSpPr>
        <p:spPr>
          <a:xfrm>
            <a:off x="815187" y="201168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E62038"/>
                </a:solidFill>
                <a:latin typeface="Arial"/>
                <a:ea typeface="Arial"/>
                <a:cs typeface="Arial"/>
                <a:sym typeface="Arial"/>
              </a:rPr>
              <a:t>City A</a:t>
            </a:r>
            <a:endParaRPr/>
          </a:p>
        </p:txBody>
      </p:sp>
      <p:sp>
        <p:nvSpPr>
          <p:cNvPr id="218" name="Google Shape;218;p19"/>
          <p:cNvSpPr txBox="1"/>
          <p:nvPr/>
        </p:nvSpPr>
        <p:spPr>
          <a:xfrm>
            <a:off x="815187" y="251460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1E1E"/>
                </a:solidFill>
                <a:latin typeface="Arial"/>
                <a:ea typeface="Arial"/>
                <a:cs typeface="Arial"/>
                <a:sym typeface="Arial"/>
              </a:rPr>
              <a:t>The dashboard city</a:t>
            </a:r>
            <a:endParaRPr/>
          </a:p>
        </p:txBody>
      </p:sp>
      <p:sp>
        <p:nvSpPr>
          <p:cNvPr id="219" name="Google Shape;219;p19"/>
          <p:cNvSpPr txBox="1"/>
          <p:nvPr/>
        </p:nvSpPr>
        <p:spPr>
          <a:xfrm>
            <a:off x="815187" y="3063240"/>
            <a:ext cx="297180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E1E1E"/>
                </a:solidFill>
                <a:latin typeface="Arial"/>
                <a:ea typeface="Arial"/>
                <a:cs typeface="Arial"/>
                <a:sym typeface="Arial"/>
              </a:rPr>
              <a:t>Sensors everywhere. A beautiful open-data portal. Imports everything. No observation has ever changed anything.</a:t>
            </a:r>
            <a:endParaRPr/>
          </a:p>
        </p:txBody>
      </p:sp>
      <p:sp>
        <p:nvSpPr>
          <p:cNvPr id="220" name="Google Shape;220;p19"/>
          <p:cNvSpPr/>
          <p:nvPr/>
        </p:nvSpPr>
        <p:spPr>
          <a:xfrm>
            <a:off x="4335627" y="1737360"/>
            <a:ext cx="3520440" cy="329184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9"/>
          <p:cNvSpPr txBox="1"/>
          <p:nvPr/>
        </p:nvSpPr>
        <p:spPr>
          <a:xfrm>
            <a:off x="4609947" y="201168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E62038"/>
                </a:solidFill>
                <a:latin typeface="Arial"/>
                <a:ea typeface="Arial"/>
                <a:cs typeface="Arial"/>
                <a:sym typeface="Arial"/>
              </a:rPr>
              <a:t>City B</a:t>
            </a:r>
            <a:endParaRPr/>
          </a:p>
        </p:txBody>
      </p:sp>
      <p:sp>
        <p:nvSpPr>
          <p:cNvPr id="222" name="Google Shape;222;p19"/>
          <p:cNvSpPr txBox="1"/>
          <p:nvPr/>
        </p:nvSpPr>
        <p:spPr>
          <a:xfrm>
            <a:off x="4609947" y="251460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1E1E"/>
                </a:solidFill>
                <a:latin typeface="Arial"/>
                <a:ea typeface="Arial"/>
                <a:cs typeface="Arial"/>
                <a:sym typeface="Arial"/>
              </a:rPr>
              <a:t>The self-sufficient village</a:t>
            </a:r>
            <a:endParaRPr/>
          </a:p>
        </p:txBody>
      </p:sp>
      <p:sp>
        <p:nvSpPr>
          <p:cNvPr id="223" name="Google Shape;223;p19"/>
          <p:cNvSpPr txBox="1"/>
          <p:nvPr/>
        </p:nvSpPr>
        <p:spPr>
          <a:xfrm>
            <a:off x="4609947" y="3063240"/>
            <a:ext cx="297180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E1E1E"/>
                </a:solidFill>
                <a:latin typeface="Arial"/>
                <a:ea typeface="Arial"/>
                <a:cs typeface="Arial"/>
                <a:sym typeface="Arial"/>
              </a:rPr>
              <a:t>Grows its own food. Barely imports. Almost no labs, no data, no network.</a:t>
            </a:r>
            <a:endParaRPr/>
          </a:p>
        </p:txBody>
      </p:sp>
      <p:sp>
        <p:nvSpPr>
          <p:cNvPr id="224" name="Google Shape;224;p19"/>
          <p:cNvSpPr/>
          <p:nvPr/>
        </p:nvSpPr>
        <p:spPr>
          <a:xfrm>
            <a:off x="8130387" y="1737360"/>
            <a:ext cx="3520440" cy="329184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9"/>
          <p:cNvSpPr txBox="1"/>
          <p:nvPr/>
        </p:nvSpPr>
        <p:spPr>
          <a:xfrm>
            <a:off x="8404707" y="201168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E62038"/>
                </a:solidFill>
                <a:latin typeface="Arial"/>
                <a:ea typeface="Arial"/>
                <a:cs typeface="Arial"/>
                <a:sym typeface="Arial"/>
              </a:rPr>
              <a:t>City C</a:t>
            </a:r>
            <a:endParaRPr/>
          </a:p>
        </p:txBody>
      </p:sp>
      <p:sp>
        <p:nvSpPr>
          <p:cNvPr id="226" name="Google Shape;226;p19"/>
          <p:cNvSpPr txBox="1"/>
          <p:nvPr/>
        </p:nvSpPr>
        <p:spPr>
          <a:xfrm>
            <a:off x="8404707" y="2514600"/>
            <a:ext cx="2971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E1E1E"/>
                </a:solidFill>
                <a:latin typeface="Arial"/>
                <a:ea typeface="Arial"/>
                <a:cs typeface="Arial"/>
                <a:sym typeface="Arial"/>
              </a:rPr>
              <a:t>The responsive maker city</a:t>
            </a:r>
            <a:endParaRPr/>
          </a:p>
        </p:txBody>
      </p:sp>
      <p:sp>
        <p:nvSpPr>
          <p:cNvPr id="227" name="Google Shape;227;p19"/>
          <p:cNvSpPr txBox="1"/>
          <p:nvPr/>
        </p:nvSpPr>
        <p:spPr>
          <a:xfrm>
            <a:off x="8404707" y="3063240"/>
            <a:ext cx="2971800"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1E1E1E"/>
                </a:solidFill>
                <a:latin typeface="Arial"/>
                <a:ea typeface="Arial"/>
                <a:cs typeface="Arial"/>
                <a:sym typeface="Arial"/>
              </a:rPr>
              <a:t>Decent labs. Moderate imports. When the river sensor spikes, a fitted response is fabricated and deployed within weeks.</a:t>
            </a:r>
            <a:endParaRPr/>
          </a:p>
        </p:txBody>
      </p:sp>
      <p:sp>
        <p:nvSpPr>
          <p:cNvPr id="228" name="Google Shape;228;p19"/>
          <p:cNvSpPr txBox="1"/>
          <p:nvPr/>
        </p:nvSpPr>
        <p:spPr>
          <a:xfrm>
            <a:off x="640080" y="5486400"/>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1E1E1E"/>
                </a:solidFill>
                <a:latin typeface="Arial"/>
                <a:ea typeface="Arial"/>
                <a:cs typeface="Arial"/>
                <a:sym typeface="Arial"/>
              </a:rPr>
              <a:t>Hands up, A, B, or 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233" name="Shape 233"/>
        <p:cNvGrpSpPr/>
        <p:nvPr/>
      </p:nvGrpSpPr>
      <p:grpSpPr>
        <a:xfrm>
          <a:off x="0" y="0"/>
          <a:ext cx="0" cy="0"/>
          <a:chOff x="0" y="0"/>
          <a:chExt cx="0" cy="0"/>
        </a:xfrm>
      </p:grpSpPr>
      <p:sp>
        <p:nvSpPr>
          <p:cNvPr id="234" name="Google Shape;234;p20"/>
          <p:cNvSpPr txBox="1"/>
          <p:nvPr/>
        </p:nvSpPr>
        <p:spPr>
          <a:xfrm>
            <a:off x="822960" y="1005840"/>
            <a:ext cx="4206240" cy="1280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0" u="none" cap="none" strike="noStrike">
                <a:solidFill>
                  <a:srgbClr val="E62038"/>
                </a:solidFill>
                <a:latin typeface="Arial"/>
                <a:ea typeface="Arial"/>
                <a:cs typeface="Arial"/>
                <a:sym typeface="Arial"/>
              </a:rPr>
              <a:t>A ≈ 0</a:t>
            </a:r>
            <a:endParaRPr/>
          </a:p>
        </p:txBody>
      </p:sp>
      <p:sp>
        <p:nvSpPr>
          <p:cNvPr id="235" name="Google Shape;235;p20"/>
          <p:cNvSpPr txBox="1"/>
          <p:nvPr/>
        </p:nvSpPr>
        <p:spPr>
          <a:xfrm>
            <a:off x="822960" y="2468880"/>
            <a:ext cx="1051560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1E1E"/>
                </a:solidFill>
                <a:latin typeface="Arial"/>
                <a:ea typeface="Arial"/>
                <a:cs typeface="Arial"/>
                <a:sym typeface="Arial"/>
              </a:rPr>
              <a:t>Multiplication is merciless.</a:t>
            </a:r>
            <a:endParaRPr/>
          </a:p>
        </p:txBody>
      </p:sp>
      <p:sp>
        <p:nvSpPr>
          <p:cNvPr id="236" name="Google Shape;236;p20"/>
          <p:cNvSpPr txBox="1"/>
          <p:nvPr/>
        </p:nvSpPr>
        <p:spPr>
          <a:xfrm>
            <a:off x="822960" y="3383280"/>
            <a:ext cx="9875520" cy="1645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E1E1E"/>
                </a:solidFill>
                <a:latin typeface="Arial"/>
                <a:ea typeface="Arial"/>
                <a:cs typeface="Arial"/>
                <a:sym typeface="Arial"/>
              </a:rPr>
              <a:t>The dashboard city scores near zero: paralysis kills the product, no matter how good the portal. The village is subsistence, not resilience, independence without capacity. C wins.</a:t>
            </a:r>
            <a:endParaRPr/>
          </a:p>
          <a:p>
            <a:pPr indent="0" lvl="0" marL="0" marR="0" rtl="0" algn="l">
              <a:spcBef>
                <a:spcPts val="0"/>
              </a:spcBef>
              <a:spcAft>
                <a:spcPts val="0"/>
              </a:spcAft>
              <a:buNone/>
            </a:pPr>
            <a:r>
              <a:rPr b="1" i="0" lang="en-US" sz="1500" u="none" cap="none" strike="noStrike">
                <a:solidFill>
                  <a:srgbClr val="1E1E1E"/>
                </a:solidFill>
                <a:latin typeface="Arial"/>
                <a:ea typeface="Arial"/>
                <a:cs typeface="Arial"/>
                <a:sym typeface="Arial"/>
              </a:rPr>
              <a:t>You can't compensate paralysis with dashboards, and you can't average your way past a zero.</a:t>
            </a:r>
            <a:endParaRPr/>
          </a:p>
        </p:txBody>
      </p:sp>
      <p:sp>
        <p:nvSpPr>
          <p:cNvPr id="237" name="Google Shape;237;p20"/>
          <p:cNvSpPr txBox="1"/>
          <p:nvPr/>
        </p:nvSpPr>
        <p:spPr>
          <a:xfrm>
            <a:off x="822960" y="5348160"/>
            <a:ext cx="68580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1E1E1E"/>
                </a:solidFill>
                <a:latin typeface="Arial"/>
                <a:ea typeface="Arial"/>
                <a:cs typeface="Arial"/>
                <a:sym typeface="Arial"/>
              </a:rPr>
              <a:t>FCI = DIDO · (1 − PITO) · ρ</a:t>
            </a:r>
            <a:endParaRPr/>
          </a:p>
        </p:txBody>
      </p:sp>
      <p:sp>
        <p:nvSpPr>
          <p:cNvPr id="238" name="Google Shape;238;p20"/>
          <p:cNvSpPr/>
          <p:nvPr/>
        </p:nvSpPr>
        <p:spPr>
          <a:xfrm>
            <a:off x="7863840" y="5212080"/>
            <a:ext cx="3657600" cy="914400"/>
          </a:xfrm>
          <a:prstGeom prst="roundRect">
            <a:avLst>
              <a:gd fmla="val 16667" name="adj"/>
            </a:avLst>
          </a:prstGeom>
          <a:solidFill>
            <a:srgbClr val="1E1E1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0"/>
          <p:cNvSpPr txBox="1"/>
          <p:nvPr/>
        </p:nvSpPr>
        <p:spPr>
          <a:xfrm>
            <a:off x="8092440" y="5440680"/>
            <a:ext cx="32918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E62038"/>
                </a:solidFill>
                <a:latin typeface="Arial"/>
                <a:ea typeface="Arial"/>
                <a:cs typeface="Arial"/>
                <a:sym typeface="Arial"/>
              </a:rPr>
              <a:t>→ </a:t>
            </a:r>
            <a:r>
              <a:rPr b="1" i="0" lang="en-US" sz="1400" u="none" cap="none" strike="noStrike">
                <a:solidFill>
                  <a:srgbClr val="F7F5F1"/>
                </a:solidFill>
                <a:latin typeface="Arial"/>
                <a:ea typeface="Arial"/>
                <a:cs typeface="Arial"/>
                <a:sym typeface="Arial"/>
              </a:rPr>
              <a:t>index.fab.city · Boston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244" name="Shape 244"/>
        <p:cNvGrpSpPr/>
        <p:nvPr/>
      </p:nvGrpSpPr>
      <p:grpSpPr>
        <a:xfrm>
          <a:off x="0" y="0"/>
          <a:ext cx="0" cy="0"/>
          <a:chOff x="0" y="0"/>
          <a:chExt cx="0" cy="0"/>
        </a:xfrm>
      </p:grpSpPr>
      <p:sp>
        <p:nvSpPr>
          <p:cNvPr id="245" name="Google Shape;245;p21"/>
          <p:cNvSpPr txBox="1"/>
          <p:nvPr/>
        </p:nvSpPr>
        <p:spPr>
          <a:xfrm>
            <a:off x="640080" y="457200"/>
            <a:ext cx="73152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E62038"/>
                </a:solidFill>
                <a:latin typeface="Arial"/>
                <a:ea typeface="Arial"/>
                <a:cs typeface="Arial"/>
                <a:sym typeface="Arial"/>
              </a:rPr>
              <a:t>PLANETAI · THE DEAL</a:t>
            </a:r>
            <a:endParaRPr/>
          </a:p>
        </p:txBody>
      </p:sp>
      <p:sp>
        <p:nvSpPr>
          <p:cNvPr id="246" name="Google Shape;246;p21"/>
          <p:cNvSpPr/>
          <p:nvPr/>
        </p:nvSpPr>
        <p:spPr>
          <a:xfrm>
            <a:off x="640080" y="792480"/>
            <a:ext cx="594360" cy="19050"/>
          </a:xfrm>
          <a:prstGeom prst="rect">
            <a:avLst/>
          </a:prstGeom>
          <a:solidFill>
            <a:srgbClr val="E6203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1"/>
          <p:cNvSpPr txBox="1"/>
          <p:nvPr/>
        </p:nvSpPr>
        <p:spPr>
          <a:xfrm>
            <a:off x="640080" y="822960"/>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E1E1E"/>
                </a:solidFill>
                <a:latin typeface="Arial"/>
                <a:ea typeface="Arial"/>
                <a:cs typeface="Arial"/>
                <a:sym typeface="Arial"/>
              </a:rPr>
              <a:t>What a city gets back</a:t>
            </a:r>
            <a:endParaRPr/>
          </a:p>
        </p:txBody>
      </p:sp>
      <p:sp>
        <p:nvSpPr>
          <p:cNvPr id="248" name="Google Shape;248;p21"/>
          <p:cNvSpPr/>
          <p:nvPr/>
        </p:nvSpPr>
        <p:spPr>
          <a:xfrm>
            <a:off x="540867" y="1691640"/>
            <a:ext cx="3520440" cy="33832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1"/>
          <p:cNvSpPr txBox="1"/>
          <p:nvPr/>
        </p:nvSpPr>
        <p:spPr>
          <a:xfrm>
            <a:off x="815187" y="1965960"/>
            <a:ext cx="2971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Production capacity,</a:t>
            </a:r>
            <a:endParaRPr/>
          </a:p>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at every scale</a:t>
            </a:r>
            <a:endParaRPr/>
          </a:p>
        </p:txBody>
      </p:sp>
      <p:sp>
        <p:nvSpPr>
          <p:cNvPr id="250" name="Google Shape;250;p21"/>
          <p:cNvSpPr txBox="1"/>
          <p:nvPr/>
        </p:nvSpPr>
        <p:spPr>
          <a:xfrm>
            <a:off x="815187" y="2971800"/>
            <a:ext cx="2971800" cy="1920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2,700+ labs that can fabricate the response, respirator kits, sensor housings, circular-flow templates, in days, from the neighbourhood shed to the bioregion.</a:t>
            </a:r>
            <a:endParaRPr/>
          </a:p>
        </p:txBody>
      </p:sp>
      <p:sp>
        <p:nvSpPr>
          <p:cNvPr id="251" name="Google Shape;251;p21"/>
          <p:cNvSpPr/>
          <p:nvPr/>
        </p:nvSpPr>
        <p:spPr>
          <a:xfrm>
            <a:off x="4335627" y="1691640"/>
            <a:ext cx="3520440" cy="33832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1"/>
          <p:cNvSpPr txBox="1"/>
          <p:nvPr/>
        </p:nvSpPr>
        <p:spPr>
          <a:xfrm>
            <a:off x="4609947" y="1965960"/>
            <a:ext cx="2971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Computation</a:t>
            </a:r>
            <a:endParaRPr/>
          </a:p>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you couldn't buy</a:t>
            </a:r>
            <a:endParaRPr/>
          </a:p>
        </p:txBody>
      </p:sp>
      <p:sp>
        <p:nvSpPr>
          <p:cNvPr id="253" name="Google Shape;253;p21"/>
          <p:cNvSpPr txBox="1"/>
          <p:nvPr/>
        </p:nvSpPr>
        <p:spPr>
          <a:xfrm>
            <a:off x="4609947" y="2971800"/>
            <a:ext cx="2971800" cy="1920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Planetary models flow down to a node at your fab lab; your community's readings flow up. Federated by design, you keep the data that makes it.</a:t>
            </a:r>
            <a:endParaRPr/>
          </a:p>
        </p:txBody>
      </p:sp>
      <p:sp>
        <p:nvSpPr>
          <p:cNvPr id="254" name="Google Shape;254;p21"/>
          <p:cNvSpPr/>
          <p:nvPr/>
        </p:nvSpPr>
        <p:spPr>
          <a:xfrm>
            <a:off x="8130387" y="1691640"/>
            <a:ext cx="3520440" cy="33832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21"/>
          <p:cNvSpPr txBox="1"/>
          <p:nvPr/>
        </p:nvSpPr>
        <p:spPr>
          <a:xfrm>
            <a:off x="8404707" y="1965960"/>
            <a:ext cx="29718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Sovereignty</a:t>
            </a:r>
            <a:endParaRPr/>
          </a:p>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by design</a:t>
            </a:r>
            <a:endParaRPr/>
          </a:p>
        </p:txBody>
      </p:sp>
      <p:sp>
        <p:nvSpPr>
          <p:cNvPr id="256" name="Google Shape;256;p21"/>
          <p:cNvSpPr txBox="1"/>
          <p:nvPr/>
        </p:nvSpPr>
        <p:spPr>
          <a:xfrm>
            <a:off x="8404707" y="2971800"/>
            <a:ext cx="2971800" cy="1920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The node lives at the lab, not in a datacentre. Community council veto. Agents draft, humans approve, every deploy on a public ledger.</a:t>
            </a:r>
            <a:endParaRPr/>
          </a:p>
        </p:txBody>
      </p:sp>
      <p:sp>
        <p:nvSpPr>
          <p:cNvPr id="257" name="Google Shape;257;p21"/>
          <p:cNvSpPr txBox="1"/>
          <p:nvPr/>
        </p:nvSpPr>
        <p:spPr>
          <a:xfrm>
            <a:off x="640080" y="5532120"/>
            <a:ext cx="10972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A8782"/>
                </a:solidFill>
                <a:latin typeface="Arial"/>
                <a:ea typeface="Arial"/>
                <a:cs typeface="Arial"/>
                <a:sym typeface="Arial"/>
              </a:rPr>
              <a:t>36 months · 4 bioregion pilots, Barcelona, Boston, Santiago, Bali · 2 pre-registered hypotheses · a null is publishable.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1"/>
        </a:solidFill>
      </p:bgPr>
    </p:bg>
    <p:spTree>
      <p:nvGrpSpPr>
        <p:cNvPr id="262" name="Shape 262"/>
        <p:cNvGrpSpPr/>
        <p:nvPr/>
      </p:nvGrpSpPr>
      <p:grpSpPr>
        <a:xfrm>
          <a:off x="0" y="0"/>
          <a:ext cx="0" cy="0"/>
          <a:chOff x="0" y="0"/>
          <a:chExt cx="0" cy="0"/>
        </a:xfrm>
      </p:grpSpPr>
      <p:sp>
        <p:nvSpPr>
          <p:cNvPr id="263" name="Google Shape;263;p22"/>
          <p:cNvSpPr txBox="1"/>
          <p:nvPr/>
        </p:nvSpPr>
        <p:spPr>
          <a:xfrm>
            <a:off x="640080" y="411480"/>
            <a:ext cx="82296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1E1E1E"/>
                </a:solidFill>
                <a:latin typeface="Arial"/>
                <a:ea typeface="Arial"/>
                <a:cs typeface="Arial"/>
                <a:sym typeface="Arial"/>
              </a:rPr>
              <a:t>Pick your cell</a:t>
            </a:r>
            <a:endParaRPr/>
          </a:p>
        </p:txBody>
      </p:sp>
      <p:sp>
        <p:nvSpPr>
          <p:cNvPr id="264" name="Google Shape;264;p22"/>
          <p:cNvSpPr txBox="1"/>
          <p:nvPr/>
        </p:nvSpPr>
        <p:spPr>
          <a:xfrm>
            <a:off x="640080" y="1005840"/>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8A8782"/>
                </a:solidFill>
                <a:latin typeface="Arial"/>
                <a:ea typeface="Arial"/>
                <a:cs typeface="Arial"/>
                <a:sym typeface="Arial"/>
              </a:rPr>
              <a:t>Your city, or Boston by default · 20 minutes · the card is the deliverable</a:t>
            </a:r>
            <a:endParaRPr/>
          </a:p>
        </p:txBody>
      </p:sp>
      <p:sp>
        <p:nvSpPr>
          <p:cNvPr id="265" name="Google Shape;265;p22"/>
          <p:cNvSpPr/>
          <p:nvPr/>
        </p:nvSpPr>
        <p:spPr>
          <a:xfrm>
            <a:off x="640080" y="1645920"/>
            <a:ext cx="10881360" cy="13258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2"/>
          <p:cNvSpPr txBox="1"/>
          <p:nvPr/>
        </p:nvSpPr>
        <p:spPr>
          <a:xfrm>
            <a:off x="914400" y="1901952"/>
            <a:ext cx="6400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E62038"/>
                </a:solidFill>
                <a:latin typeface="Arial"/>
                <a:ea typeface="Arial"/>
                <a:cs typeface="Arial"/>
                <a:sym typeface="Arial"/>
              </a:rPr>
              <a:t>1</a:t>
            </a:r>
            <a:endParaRPr/>
          </a:p>
        </p:txBody>
      </p:sp>
      <p:sp>
        <p:nvSpPr>
          <p:cNvPr id="267" name="Google Shape;267;p22"/>
          <p:cNvSpPr txBox="1"/>
          <p:nvPr/>
        </p:nvSpPr>
        <p:spPr>
          <a:xfrm>
            <a:off x="1645920" y="1847088"/>
            <a:ext cx="29260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Dot the matrix</a:t>
            </a:r>
            <a:endParaRPr/>
          </a:p>
        </p:txBody>
      </p:sp>
      <p:sp>
        <p:nvSpPr>
          <p:cNvPr id="268" name="Google Shape;268;p22"/>
          <p:cNvSpPr txBox="1"/>
          <p:nvPr/>
        </p:nvSpPr>
        <p:spPr>
          <a:xfrm>
            <a:off x="1645920" y="2304288"/>
            <a:ext cx="29260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A8782"/>
                </a:solidFill>
                <a:latin typeface="Arial"/>
                <a:ea typeface="Arial"/>
                <a:cs typeface="Arial"/>
                <a:sym typeface="Arial"/>
              </a:rPr>
              <a:t>7′</a:t>
            </a:r>
            <a:endParaRPr/>
          </a:p>
        </p:txBody>
      </p:sp>
      <p:sp>
        <p:nvSpPr>
          <p:cNvPr id="269" name="Google Shape;269;p22"/>
          <p:cNvSpPr txBox="1"/>
          <p:nvPr/>
        </p:nvSpPr>
        <p:spPr>
          <a:xfrm>
            <a:off x="4754880" y="1865376"/>
            <a:ext cx="649224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Your city, or Boston, the pilot you're sitting in, if your table doesn't share one. Don't dot all 20: scan the grid and dot only the 3-4 cells you actually know. Green = you could pull it this month, write the source on the dot. Yellow = exists but locked. Leave the rest dark.</a:t>
            </a:r>
            <a:endParaRPr/>
          </a:p>
        </p:txBody>
      </p:sp>
      <p:sp>
        <p:nvSpPr>
          <p:cNvPr id="270" name="Google Shape;270;p22"/>
          <p:cNvSpPr/>
          <p:nvPr/>
        </p:nvSpPr>
        <p:spPr>
          <a:xfrm>
            <a:off x="640080" y="3136391"/>
            <a:ext cx="10881360" cy="13258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22"/>
          <p:cNvSpPr txBox="1"/>
          <p:nvPr/>
        </p:nvSpPr>
        <p:spPr>
          <a:xfrm>
            <a:off x="914400" y="3392424"/>
            <a:ext cx="6400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E62038"/>
                </a:solidFill>
                <a:latin typeface="Arial"/>
                <a:ea typeface="Arial"/>
                <a:cs typeface="Arial"/>
                <a:sym typeface="Arial"/>
              </a:rPr>
              <a:t>2</a:t>
            </a:r>
            <a:endParaRPr/>
          </a:p>
        </p:txBody>
      </p:sp>
      <p:sp>
        <p:nvSpPr>
          <p:cNvPr id="272" name="Google Shape;272;p22"/>
          <p:cNvSpPr txBox="1"/>
          <p:nvPr/>
        </p:nvSpPr>
        <p:spPr>
          <a:xfrm>
            <a:off x="1645920" y="3337560"/>
            <a:ext cx="29260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Pick ONE cell</a:t>
            </a:r>
            <a:endParaRPr/>
          </a:p>
        </p:txBody>
      </p:sp>
      <p:sp>
        <p:nvSpPr>
          <p:cNvPr id="273" name="Google Shape;273;p22"/>
          <p:cNvSpPr txBox="1"/>
          <p:nvPr/>
        </p:nvSpPr>
        <p:spPr>
          <a:xfrm>
            <a:off x="1645920" y="3794759"/>
            <a:ext cx="29260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A8782"/>
                </a:solidFill>
                <a:latin typeface="Arial"/>
                <a:ea typeface="Arial"/>
                <a:cs typeface="Arial"/>
                <a:sym typeface="Arial"/>
              </a:rPr>
              <a:t>5′</a:t>
            </a:r>
            <a:endParaRPr/>
          </a:p>
        </p:txBody>
      </p:sp>
      <p:sp>
        <p:nvSpPr>
          <p:cNvPr id="274" name="Google Shape;274;p22"/>
          <p:cNvSpPr txBox="1"/>
          <p:nvPr/>
        </p:nvSpPr>
        <p:spPr>
          <a:xfrm>
            <a:off x="4754880" y="3355848"/>
            <a:ext cx="649224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Not the easiest, the one that matters and is reachable in 30 days. Dark cell that matters more? Commit to the smallest campaign that creates the data.</a:t>
            </a:r>
            <a:endParaRPr/>
          </a:p>
        </p:txBody>
      </p:sp>
      <p:sp>
        <p:nvSpPr>
          <p:cNvPr id="275" name="Google Shape;275;p22"/>
          <p:cNvSpPr/>
          <p:nvPr/>
        </p:nvSpPr>
        <p:spPr>
          <a:xfrm>
            <a:off x="640080" y="4626864"/>
            <a:ext cx="10881360" cy="1325880"/>
          </a:xfrm>
          <a:prstGeom prst="roundRect">
            <a:avLst>
              <a:gd fmla="val 16667" name="adj"/>
            </a:avLst>
          </a:prstGeom>
          <a:solidFill>
            <a:srgbClr val="ECE9E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2"/>
          <p:cNvSpPr txBox="1"/>
          <p:nvPr/>
        </p:nvSpPr>
        <p:spPr>
          <a:xfrm>
            <a:off x="914400" y="4882896"/>
            <a:ext cx="6400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E62038"/>
                </a:solidFill>
                <a:latin typeface="Arial"/>
                <a:ea typeface="Arial"/>
                <a:cs typeface="Arial"/>
                <a:sym typeface="Arial"/>
              </a:rPr>
              <a:t>3</a:t>
            </a:r>
            <a:endParaRPr/>
          </a:p>
        </p:txBody>
      </p:sp>
      <p:sp>
        <p:nvSpPr>
          <p:cNvPr id="277" name="Google Shape;277;p22"/>
          <p:cNvSpPr txBox="1"/>
          <p:nvPr/>
        </p:nvSpPr>
        <p:spPr>
          <a:xfrm>
            <a:off x="1645920" y="4828031"/>
            <a:ext cx="29260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E1E1E"/>
                </a:solidFill>
                <a:latin typeface="Arial"/>
                <a:ea typeface="Arial"/>
                <a:cs typeface="Arial"/>
                <a:sym typeface="Arial"/>
              </a:rPr>
              <a:t>Fill the card</a:t>
            </a:r>
            <a:endParaRPr/>
          </a:p>
        </p:txBody>
      </p:sp>
      <p:sp>
        <p:nvSpPr>
          <p:cNvPr id="278" name="Google Shape;278;p22"/>
          <p:cNvSpPr txBox="1"/>
          <p:nvPr/>
        </p:nvSpPr>
        <p:spPr>
          <a:xfrm>
            <a:off x="1645920" y="5285231"/>
            <a:ext cx="29260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8A8782"/>
                </a:solidFill>
                <a:latin typeface="Arial"/>
                <a:ea typeface="Arial"/>
                <a:cs typeface="Arial"/>
                <a:sym typeface="Arial"/>
              </a:rPr>
              <a:t>5′</a:t>
            </a:r>
            <a:endParaRPr/>
          </a:p>
        </p:txBody>
      </p:sp>
      <p:sp>
        <p:nvSpPr>
          <p:cNvPr id="279" name="Google Shape;279;p22"/>
          <p:cNvSpPr txBox="1"/>
          <p:nvPr/>
        </p:nvSpPr>
        <p:spPr>
          <a:xfrm>
            <a:off x="4754880" y="4846320"/>
            <a:ext cx="6492240" cy="10058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50" u="none" cap="none" strike="noStrike">
                <a:solidFill>
                  <a:srgbClr val="1E1E1E"/>
                </a:solidFill>
                <a:latin typeface="Arial"/>
                <a:ea typeface="Arial"/>
                <a:cs typeface="Arial"/>
                <a:sym typeface="Arial"/>
              </a:rPr>
              <a:t>One cell · one source · one name · one date, plus the first step and the real day you'll take it (“email the data officer, Aug 4”). That's what you report, in one minute.</a:t>
            </a:r>
            <a:endParaRPr/>
          </a:p>
        </p:txBody>
      </p:sp>
      <p:sp>
        <p:nvSpPr>
          <p:cNvPr id="280" name="Google Shape;280;p22"/>
          <p:cNvSpPr txBox="1"/>
          <p:nvPr/>
        </p:nvSpPr>
        <p:spPr>
          <a:xfrm>
            <a:off x="640080" y="6126480"/>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8A8782"/>
                </a:solidFill>
                <a:latin typeface="Arial"/>
                <a:ea typeface="Arial"/>
                <a:cs typeface="Arial"/>
                <a:sym typeface="Arial"/>
              </a:rPr>
              <a:t>Classic mistake: over-claiming green. “Accessible” means you could pull it this month.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85" name="Shape 285"/>
        <p:cNvGrpSpPr/>
        <p:nvPr/>
      </p:nvGrpSpPr>
      <p:grpSpPr>
        <a:xfrm>
          <a:off x="0" y="0"/>
          <a:ext cx="0" cy="0"/>
          <a:chOff x="0" y="0"/>
          <a:chExt cx="0" cy="0"/>
        </a:xfrm>
      </p:grpSpPr>
      <p:pic>
        <p:nvPicPr>
          <p:cNvPr descr="logo.png" id="286" name="Google Shape;286;p23"/>
          <p:cNvPicPr preferRelativeResize="0"/>
          <p:nvPr/>
        </p:nvPicPr>
        <p:blipFill rotWithShape="1">
          <a:blip r:embed="rId3">
            <a:alphaModFix/>
          </a:blip>
          <a:srcRect b="0" l="0" r="0" t="0"/>
          <a:stretch/>
        </p:blipFill>
        <p:spPr>
          <a:xfrm>
            <a:off x="384048" y="384048"/>
            <a:ext cx="566928" cy="570708"/>
          </a:xfrm>
          <a:prstGeom prst="rect">
            <a:avLst/>
          </a:prstGeom>
          <a:noFill/>
          <a:ln>
            <a:noFill/>
          </a:ln>
        </p:spPr>
      </p:pic>
      <p:sp>
        <p:nvSpPr>
          <p:cNvPr id="287" name="Google Shape;287;p23"/>
          <p:cNvSpPr txBox="1"/>
          <p:nvPr/>
        </p:nvSpPr>
        <p:spPr>
          <a:xfrm>
            <a:off x="822960" y="1737360"/>
            <a:ext cx="7498079" cy="1554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F7F5F1"/>
                </a:solidFill>
                <a:latin typeface="Arial"/>
                <a:ea typeface="Arial"/>
                <a:cs typeface="Arial"/>
                <a:sym typeface="Arial"/>
              </a:rPr>
              <a:t>One cell. One source.</a:t>
            </a:r>
            <a:endParaRPr/>
          </a:p>
          <a:p>
            <a:pPr indent="0" lvl="0" marL="0" marR="0" rtl="0" algn="l">
              <a:spcBef>
                <a:spcPts val="0"/>
              </a:spcBef>
              <a:spcAft>
                <a:spcPts val="0"/>
              </a:spcAft>
              <a:buNone/>
            </a:pPr>
            <a:r>
              <a:rPr b="1" i="0" lang="en-US" sz="3800" u="none" cap="none" strike="noStrike">
                <a:solidFill>
                  <a:srgbClr val="F7F5F1"/>
                </a:solidFill>
                <a:latin typeface="Arial"/>
                <a:ea typeface="Arial"/>
                <a:cs typeface="Arial"/>
                <a:sym typeface="Arial"/>
              </a:rPr>
              <a:t>One name. One date.</a:t>
            </a:r>
            <a:endParaRPr/>
          </a:p>
        </p:txBody>
      </p:sp>
      <p:sp>
        <p:nvSpPr>
          <p:cNvPr id="288" name="Google Shape;288;p23"/>
          <p:cNvSpPr txBox="1"/>
          <p:nvPr/>
        </p:nvSpPr>
        <p:spPr>
          <a:xfrm>
            <a:off x="822960" y="3566160"/>
            <a:ext cx="731520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F7F5F1"/>
                </a:solidFill>
                <a:latin typeface="Arial"/>
                <a:ea typeface="Arial"/>
                <a:cs typeface="Arial"/>
                <a:sym typeface="Arial"/>
              </a:rPr>
              <a:t>Active Fab City → become a co-participant: your matrix, your operator, our support.</a:t>
            </a:r>
            <a:endParaRPr/>
          </a:p>
          <a:p>
            <a:pPr indent="0" lvl="0" marL="0" marR="0" rtl="0" algn="l">
              <a:spcBef>
                <a:spcPts val="0"/>
              </a:spcBef>
              <a:spcAft>
                <a:spcPts val="0"/>
              </a:spcAft>
              <a:buNone/>
            </a:pPr>
            <a:r>
              <a:rPr b="0" i="0" lang="en-US" sz="1500" u="none" cap="none" strike="noStrike">
                <a:solidFill>
                  <a:srgbClr val="F7F5F1"/>
                </a:solidFill>
                <a:latin typeface="Arial"/>
                <a:ea typeface="Arial"/>
                <a:cs typeface="Arial"/>
                <a:sym typeface="Arial"/>
              </a:rPr>
              <a:t>Everyone else → the network is the door: fab.city</a:t>
            </a:r>
            <a:endParaRPr/>
          </a:p>
        </p:txBody>
      </p:sp>
      <p:sp>
        <p:nvSpPr>
          <p:cNvPr id="289" name="Google Shape;289;p23"/>
          <p:cNvSpPr/>
          <p:nvPr/>
        </p:nvSpPr>
        <p:spPr>
          <a:xfrm>
            <a:off x="9418320" y="1737360"/>
            <a:ext cx="1920240" cy="1920240"/>
          </a:xfrm>
          <a:prstGeom prst="roundRect">
            <a:avLst>
              <a:gd fmla="val 16667" name="adj"/>
            </a:avLst>
          </a:prstGeom>
          <a:solidFill>
            <a:srgbClr val="F7F5F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3"/>
          <p:cNvSpPr txBox="1"/>
          <p:nvPr/>
        </p:nvSpPr>
        <p:spPr>
          <a:xfrm>
            <a:off x="9418320" y="2331720"/>
            <a:ext cx="1920240"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200" u="none" cap="none" strike="noStrike">
                <a:solidFill>
                  <a:srgbClr val="1E1E1E"/>
                </a:solidFill>
                <a:latin typeface="Arial"/>
                <a:ea typeface="Arial"/>
                <a:cs typeface="Arial"/>
                <a:sym typeface="Arial"/>
              </a:rPr>
              <a:t>QR</a:t>
            </a:r>
            <a:endParaRPr/>
          </a:p>
          <a:p>
            <a:pPr indent="0" lvl="0" marL="0" marR="0" rtl="0" algn="ctr">
              <a:spcBef>
                <a:spcPts val="0"/>
              </a:spcBef>
              <a:spcAft>
                <a:spcPts val="0"/>
              </a:spcAft>
              <a:buNone/>
            </a:pPr>
            <a:r>
              <a:rPr b="0" i="0" lang="en-US" sz="1200" u="none" cap="none" strike="noStrike">
                <a:solidFill>
                  <a:srgbClr val="8A8782"/>
                </a:solidFill>
                <a:latin typeface="Arial"/>
                <a:ea typeface="Arial"/>
                <a:cs typeface="Arial"/>
                <a:sym typeface="Arial"/>
              </a:rPr>
              <a:t>sign-up</a:t>
            </a:r>
            <a:endParaRPr/>
          </a:p>
        </p:txBody>
      </p:sp>
      <p:sp>
        <p:nvSpPr>
          <p:cNvPr id="291" name="Google Shape;291;p23"/>
          <p:cNvSpPr txBox="1"/>
          <p:nvPr/>
        </p:nvSpPr>
        <p:spPr>
          <a:xfrm>
            <a:off x="9281160" y="3840480"/>
            <a:ext cx="219456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8A8782"/>
                </a:solidFill>
                <a:latin typeface="Arial"/>
                <a:ea typeface="Arial"/>
                <a:cs typeface="Arial"/>
                <a:sym typeface="Arial"/>
              </a:rPr>
              <a:t>placeholder, swap before FAB26</a:t>
            </a:r>
            <a:endParaRPr/>
          </a:p>
        </p:txBody>
      </p:sp>
      <p:sp>
        <p:nvSpPr>
          <p:cNvPr id="292" name="Google Shape;292;p23"/>
          <p:cNvSpPr txBox="1"/>
          <p:nvPr/>
        </p:nvSpPr>
        <p:spPr>
          <a:xfrm>
            <a:off x="822960" y="50292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700" u="none" cap="none" strike="noStrike">
                <a:solidFill>
                  <a:srgbClr val="F7F5F1"/>
                </a:solidFill>
                <a:latin typeface="Arial"/>
                <a:ea typeface="Arial"/>
                <a:cs typeface="Arial"/>
                <a:sym typeface="Arial"/>
              </a:rPr>
              <a:t>“The matrix has 20 cells and most are dark. That's not a weakness, that's this room's job.”</a:t>
            </a:r>
            <a:endParaRPr/>
          </a:p>
        </p:txBody>
      </p:sp>
      <p:sp>
        <p:nvSpPr>
          <p:cNvPr id="293" name="Google Shape;293;p23"/>
          <p:cNvSpPr txBox="1"/>
          <p:nvPr/>
        </p:nvSpPr>
        <p:spPr>
          <a:xfrm>
            <a:off x="822960" y="6172200"/>
            <a:ext cx="105156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100" u="none" cap="none" strike="noStrike">
                <a:solidFill>
                  <a:srgbClr val="8A8782"/>
                </a:solidFill>
                <a:latin typeface="Arial"/>
                <a:ea typeface="Arial"/>
                <a:cs typeface="Arial"/>
                <a:sym typeface="Arial"/>
              </a:rPr>
              <a:t>We are a distributed movement redesigning the relationship between production and place.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